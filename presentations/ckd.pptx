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1371600"/>
            <a:ext cx="10058400" cy="457200"/>
          </a:xfrm>
          <a:prstGeom prst="rect">
            <a:avLst/>
          </a:prstGeom>
          <a:noFill/>
        </p:spPr>
        <p:txBody>
          <a:bodyPr wrap="square">
            <a:spAutoFit/>
          </a:bodyPr>
          <a:lstStyle/>
          <a:p>
            <a:pPr algn="l">
              <a:spcBef>
                <a:spcPts val="0"/>
              </a:spcBef>
              <a:spcAft>
                <a:spcPts val="400"/>
              </a:spcAft>
              <a:defRPr>
                <a:latin typeface="Segoe UI"/>
              </a:defRPr>
            </a:pPr>
            <a:r>
              <a:rPr sz="1200" b="0" i="0">
                <a:solidFill>
                  <a:srgbClr val="FFFFFF"/>
                </a:solidFill>
                <a:latin typeface="Segoe UI"/>
              </a:rPr>
              <a:t>MERIDIAN</a:t>
            </a:r>
          </a:p>
        </p:txBody>
      </p:sp>
      <p:sp>
        <p:nvSpPr>
          <p:cNvPr id="3" name="TextBox 2"/>
          <p:cNvSpPr txBox="1"/>
          <p:nvPr/>
        </p:nvSpPr>
        <p:spPr>
          <a:xfrm>
            <a:off x="914400" y="2011680"/>
            <a:ext cx="10058400" cy="1371600"/>
          </a:xfrm>
          <a:prstGeom prst="rect">
            <a:avLst/>
          </a:prstGeom>
          <a:noFill/>
        </p:spPr>
        <p:txBody>
          <a:bodyPr wrap="square">
            <a:spAutoFit/>
          </a:bodyPr>
          <a:lstStyle/>
          <a:p>
            <a:pPr algn="l">
              <a:spcBef>
                <a:spcPts val="0"/>
              </a:spcBef>
              <a:spcAft>
                <a:spcPts val="400"/>
              </a:spcAft>
            </a:pPr>
            <a:r>
              <a:rPr sz="3600" b="1" i="0">
                <a:solidFill>
                  <a:srgbClr val="FFFFFF"/>
                </a:solidFill>
                <a:latin typeface="Segoe UI"/>
              </a:rPr>
              <a:t>CKD &amp; Cystatin C</a:t>
            </a:r>
          </a:p>
        </p:txBody>
      </p:sp>
      <p:sp>
        <p:nvSpPr>
          <p:cNvPr id="4" name="TextBox 3"/>
          <p:cNvSpPr txBox="1"/>
          <p:nvPr/>
        </p:nvSpPr>
        <p:spPr>
          <a:xfrm>
            <a:off x="914400" y="3291840"/>
            <a:ext cx="10058400" cy="731520"/>
          </a:xfrm>
          <a:prstGeom prst="rect">
            <a:avLst/>
          </a:prstGeom>
          <a:noFill/>
        </p:spPr>
        <p:txBody>
          <a:bodyPr wrap="square">
            <a:spAutoFit/>
          </a:bodyPr>
          <a:lstStyle/>
          <a:p>
            <a:pPr algn="l">
              <a:spcBef>
                <a:spcPts val="0"/>
              </a:spcBef>
              <a:spcAft>
                <a:spcPts val="400"/>
              </a:spcAft>
            </a:pPr>
            <a:r>
              <a:rPr sz="2000" b="0" i="1">
                <a:solidFill>
                  <a:srgbClr val="CCDDCC"/>
                </a:solidFill>
                <a:latin typeface="Segoe UI"/>
              </a:rPr>
              <a:t>Initial Workup</a:t>
            </a:r>
          </a:p>
        </p:txBody>
      </p:sp>
      <p:sp>
        <p:nvSpPr>
          <p:cNvPr id="5" name="TextBox 4"/>
          <p:cNvSpPr txBox="1"/>
          <p:nvPr/>
        </p:nvSpPr>
        <p:spPr>
          <a:xfrm>
            <a:off x="914400" y="4389120"/>
            <a:ext cx="8229600" cy="1371600"/>
          </a:xfrm>
          <a:prstGeom prst="rect">
            <a:avLst/>
          </a:prstGeom>
          <a:noFill/>
        </p:spPr>
        <p:txBody>
          <a:bodyPr wrap="square">
            <a:spAutoFit/>
          </a:bodyPr>
          <a:lstStyle/>
          <a:p>
            <a:pPr algn="l">
              <a:spcBef>
                <a:spcPts val="0"/>
              </a:spcBef>
              <a:spcAft>
                <a:spcPts val="400"/>
              </a:spcAft>
            </a:pPr>
            <a:r>
              <a:rPr sz="1400" b="0" i="1">
                <a:solidFill>
                  <a:srgbClr val="CCDDCC"/>
                </a:solidFill>
                <a:latin typeface="Segoe UI"/>
              </a:rPr>
              <a:t>A patient has an abnormal creatinine, or you've ordered cystatin C and the eGFR came back lower than expected. Use this checklist to complete a reasonable initial workup before escalating. Nephrology should receive a patient you've already started working — not one you're handing off cold.</a:t>
            </a:r>
          </a:p>
        </p:txBody>
      </p:sp>
      <p:sp>
        <p:nvSpPr>
          <p:cNvPr id="6" name="Rectangle 5"/>
          <p:cNvSpPr/>
          <p:nvPr/>
        </p:nvSpPr>
        <p:spPr>
          <a:xfrm>
            <a:off x="914400" y="6217920"/>
            <a:ext cx="10362895" cy="25400"/>
          </a:xfrm>
          <a:prstGeom prst="rect">
            <a:avLst/>
          </a:prstGeom>
          <a:solidFill>
            <a:srgbClr val="CCDD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BEFORE YOU ESCALATE — COMPLETE ALL FOUR</a:t>
            </a:r>
          </a:p>
        </p:txBody>
      </p:sp>
      <p:sp>
        <p:nvSpPr>
          <p:cNvPr id="4" name="Rectangle 3"/>
          <p:cNvSpPr/>
          <p:nvPr/>
        </p:nvSpPr>
        <p:spPr>
          <a:xfrm>
            <a:off x="731520" y="113538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Review current medication list for nephrotoxins and renally-cleared drugs requiring dose adjustment</a:t>
            </a:r>
            <a:r>
              <a:rPr sz="1000" b="1" i="0">
                <a:solidFill>
                  <a:srgbClr val="1A5C3A"/>
                </a:solidFill>
                <a:latin typeface="Segoe UI"/>
              </a:rPr>
              <a:t>  F1</a:t>
            </a:r>
          </a:p>
        </p:txBody>
      </p:sp>
      <p:sp>
        <p:nvSpPr>
          <p:cNvPr id="6" name="Rectangle 5"/>
          <p:cNvSpPr/>
          <p:nvPr/>
        </p:nvSpPr>
        <p:spPr>
          <a:xfrm>
            <a:off x="731520" y="172974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9164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Establish baseline: order cystatin C if not yet done, BMP, CBC, urine albumin-to-creatinine ratio (uACR), urinalysis with microscopy</a:t>
            </a:r>
            <a:r>
              <a:rPr sz="1000" b="1" i="0">
                <a:solidFill>
                  <a:srgbClr val="1A5C3A"/>
                </a:solidFill>
                <a:latin typeface="Segoe UI"/>
              </a:rPr>
              <a:t>  F2</a:t>
            </a:r>
          </a:p>
        </p:txBody>
      </p:sp>
      <p:sp>
        <p:nvSpPr>
          <p:cNvPr id="8" name="Rectangle 7"/>
          <p:cNvSpPr/>
          <p:nvPr/>
        </p:nvSpPr>
        <p:spPr>
          <a:xfrm>
            <a:off x="731520" y="232410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Stage the CKD using cystatin C-based eGFR (CKD-EPI 2021) and albuminuria category — document G and A stage</a:t>
            </a:r>
            <a:r>
              <a:rPr sz="1000" b="1" i="0">
                <a:solidFill>
                  <a:srgbClr val="1A5C3A"/>
                </a:solidFill>
                <a:latin typeface="Segoe UI"/>
              </a:rPr>
              <a:t>  F3</a:t>
            </a:r>
          </a:p>
        </p:txBody>
      </p:sp>
      <p:sp>
        <p:nvSpPr>
          <p:cNvPr id="10" name="Rectangle 9"/>
          <p:cNvSpPr/>
          <p:nvPr/>
        </p:nvSpPr>
        <p:spPr>
          <a:xfrm>
            <a:off x="731520" y="291846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6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Blood pressure at goal for CKD (&lt; 120/80 if tolerated) — document current readings and agent</a:t>
            </a:r>
            <a:r>
              <a:rPr sz="1000" b="1" i="0">
                <a:solidFill>
                  <a:srgbClr val="1A5C3A"/>
                </a:solidFill>
                <a:latin typeface="Segoe UI"/>
              </a:rPr>
              <a:t>  F4</a:t>
            </a:r>
          </a:p>
        </p:txBody>
      </p:sp>
      <p:sp>
        <p:nvSpPr>
          <p:cNvPr id="12" name="Rectangle 11"/>
          <p:cNvSpPr/>
          <p:nvPr/>
        </p:nvSpPr>
        <p:spPr>
          <a:xfrm>
            <a:off x="640080" y="3749040"/>
            <a:ext cx="50800" cy="14630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49040"/>
            <a:ext cx="9601200" cy="1463040"/>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40480"/>
            <a:ext cx="9144000" cy="274320"/>
          </a:xfrm>
          <a:prstGeom prst="rect">
            <a:avLst/>
          </a:prstGeom>
          <a:noFill/>
        </p:spPr>
        <p:txBody>
          <a:bodyPr wrap="square">
            <a:spAutoFit/>
          </a:bodyPr>
          <a:lstStyle/>
          <a:p>
            <a:pPr algn="l">
              <a:spcBef>
                <a:spcPts val="0"/>
              </a:spcBef>
              <a:spcAft>
                <a:spcPts val="400"/>
              </a:spcAft>
            </a:pPr>
            <a:r>
              <a:rPr sz="1000" b="1" i="0">
                <a:solidFill>
                  <a:srgbClr val="1A5C3A"/>
                </a:solidFill>
                <a:latin typeface="Segoe UI"/>
              </a:rPr>
              <a:t>ALL BOXES CHECKED — YOU'VE DONE THE WORK</a:t>
            </a:r>
          </a:p>
        </p:txBody>
      </p:sp>
      <p:sp>
        <p:nvSpPr>
          <p:cNvPr id="15" name="TextBox 14"/>
          <p:cNvSpPr txBox="1"/>
          <p:nvPr/>
        </p:nvSpPr>
        <p:spPr>
          <a:xfrm>
            <a:off x="914400" y="4160520"/>
            <a:ext cx="9144000" cy="548640"/>
          </a:xfrm>
          <a:prstGeom prst="rect">
            <a:avLst/>
          </a:prstGeom>
          <a:noFill/>
        </p:spPr>
        <p:txBody>
          <a:bodyPr wrap="square">
            <a:spAutoFit/>
          </a:bodyPr>
          <a:lstStyle/>
          <a:p>
            <a:pPr algn="l">
              <a:spcBef>
                <a:spcPts val="0"/>
              </a:spcBef>
              <a:spcAft>
                <a:spcPts val="400"/>
              </a:spcAft>
            </a:pPr>
            <a:r>
              <a:rPr sz="1300" b="0" i="0">
                <a:solidFill>
                  <a:srgbClr val="1C1A16"/>
                </a:solidFill>
                <a:latin typeface="Segoe UI"/>
              </a:rPr>
              <a:t>Initial workup complete. Document staging and baseline using SmartPhrase below. Safe to manage stage G1–G3a with standard interventions while awaiting nephrology input if needed. You are institutionally supported.</a:t>
            </a:r>
          </a:p>
        </p:txBody>
      </p:sp>
      <p:sp>
        <p:nvSpPr>
          <p:cNvPr id="16" name="TextBox 15"/>
          <p:cNvSpPr txBox="1"/>
          <p:nvPr/>
        </p:nvSpPr>
        <p:spPr>
          <a:xfrm>
            <a:off x="914400" y="4754880"/>
            <a:ext cx="3657600" cy="320040"/>
          </a:xfrm>
          <a:prstGeom prst="rect">
            <a:avLst/>
          </a:prstGeom>
          <a:noFill/>
        </p:spPr>
        <p:txBody>
          <a:bodyPr wrap="square">
            <a:spAutoFit/>
          </a:bodyPr>
          <a:lstStyle/>
          <a:p>
            <a:pPr algn="l">
              <a:spcBef>
                <a:spcPts val="0"/>
              </a:spcBef>
              <a:spcAft>
                <a:spcPts val="400"/>
              </a:spcAft>
            </a:pPr>
            <a:r>
              <a:rPr sz="1100" b="0" i="0">
                <a:solidFill>
                  <a:srgbClr val="1A5C3A"/>
                </a:solidFill>
                <a:latin typeface="Segoe UI"/>
              </a:rPr>
              <a:t>SmartPhrase: .CKDINIT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ESCALATE TO NEPHROLOGY E-CONSULT IF ANY APPLY</a:t>
            </a:r>
          </a:p>
        </p:txBody>
      </p:sp>
      <p:sp>
        <p:nvSpPr>
          <p:cNvPr id="4" name="Rectangle 3"/>
          <p:cNvSpPr/>
          <p:nvPr/>
        </p:nvSpPr>
        <p:spPr>
          <a:xfrm>
            <a:off x="731520" y="11607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972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eGFR decline &gt; 5 mL/min/1.73m² in 12 months, or &gt; 10 in 24 months</a:t>
            </a:r>
            <a:r>
              <a:rPr sz="1000" b="1" i="0">
                <a:solidFill>
                  <a:srgbClr val="1A5C3A"/>
                </a:solidFill>
                <a:latin typeface="Segoe UI"/>
              </a:rPr>
              <a:t>  F5</a:t>
            </a:r>
          </a:p>
        </p:txBody>
      </p:sp>
      <p:sp>
        <p:nvSpPr>
          <p:cNvPr id="6" name="Rectangle 5"/>
          <p:cNvSpPr/>
          <p:nvPr/>
        </p:nvSpPr>
        <p:spPr>
          <a:xfrm>
            <a:off x="731520" y="166370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eGFR &lt; 30 (G4–G5) at any point</a:t>
            </a:r>
            <a:r>
              <a:rPr sz="1000" b="1" i="0">
                <a:solidFill>
                  <a:srgbClr val="1A5C3A"/>
                </a:solidFill>
                <a:latin typeface="Segoe UI"/>
              </a:rPr>
              <a:t>  F6</a:t>
            </a:r>
          </a:p>
        </p:txBody>
      </p:sp>
      <p:sp>
        <p:nvSpPr>
          <p:cNvPr id="8" name="Rectangle 7"/>
          <p:cNvSpPr/>
          <p:nvPr/>
        </p:nvSpPr>
        <p:spPr>
          <a:xfrm>
            <a:off x="731520" y="216662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uACR &gt; 300 mg/g (severely increased albuminuria)</a:t>
            </a:r>
            <a:r>
              <a:rPr sz="1000" b="1" i="0">
                <a:solidFill>
                  <a:srgbClr val="1A5C3A"/>
                </a:solidFill>
                <a:latin typeface="Segoe UI"/>
              </a:rPr>
              <a:t>  F7</a:t>
            </a:r>
          </a:p>
        </p:txBody>
      </p:sp>
      <p:sp>
        <p:nvSpPr>
          <p:cNvPr id="10" name="Rectangle 9"/>
          <p:cNvSpPr/>
          <p:nvPr/>
        </p:nvSpPr>
        <p:spPr>
          <a:xfrm>
            <a:off x="731520" y="266954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0604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Unexplained CKD — no clear etiology after initial workup (no diabetes, no hypertension, no obstructive history)</a:t>
            </a:r>
            <a:r>
              <a:rPr sz="1000" b="1" i="0">
                <a:solidFill>
                  <a:srgbClr val="1A5C3A"/>
                </a:solidFill>
                <a:latin typeface="Segoe UI"/>
              </a:rPr>
              <a:t>  F8</a:t>
            </a:r>
          </a:p>
        </p:txBody>
      </p:sp>
      <p:sp>
        <p:nvSpPr>
          <p:cNvPr id="12" name="Rectangle 11"/>
          <p:cNvSpPr/>
          <p:nvPr/>
        </p:nvSpPr>
        <p:spPr>
          <a:xfrm>
            <a:off x="731520" y="317246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0896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Persistent hematuria with dysmorphic RBCs on microscopy</a:t>
            </a:r>
            <a:r>
              <a:rPr sz="1000" b="1" i="0">
                <a:solidFill>
                  <a:srgbClr val="1A5C3A"/>
                </a:solidFill>
                <a:latin typeface="Segoe UI"/>
              </a:rPr>
              <a:t>  F9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MEDICATION REVIEW</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Nephrotoxins and dose-adjusted drugs — what to look for</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medications should I flag immediately?</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High-priority nephrotoxins to review in any CKD patient:</a:t>
            </a:r>
          </a:p>
          <a:p>
            <a:pPr algn="l">
              <a:spcBef>
                <a:spcPts val="0"/>
              </a:spcBef>
              <a:spcAft>
                <a:spcPts val="600"/>
              </a:spcAft>
            </a:pPr>
            <a:r>
              <a:rPr sz="1100" b="1" i="0">
                <a:solidFill>
                  <a:srgbClr val="7A3B1E"/>
                </a:solidFill>
                <a:latin typeface="Segoe UI"/>
              </a:rPr>
              <a:t>[NSAIDs]</a:t>
            </a:r>
            <a:r>
              <a:rPr sz="1200" b="0" i="0">
                <a:solidFill>
                  <a:srgbClr val="6B6560"/>
                </a:solidFill>
                <a:latin typeface="Segoe UI"/>
              </a:rPr>
              <a:t> (including OTC ibuprofen/naproxen) — counsel to discontinue.</a:t>
            </a:r>
          </a:p>
          <a:p>
            <a:pPr algn="l">
              <a:spcBef>
                <a:spcPts val="0"/>
              </a:spcBef>
              <a:spcAft>
                <a:spcPts val="600"/>
              </a:spcAft>
            </a:pPr>
            <a:r>
              <a:rPr sz="1100" b="1" i="0">
                <a:solidFill>
                  <a:srgbClr val="6B6560"/>
                </a:solidFill>
                <a:latin typeface="Segoe UI"/>
              </a:rPr>
              <a:t>[Metformin]</a:t>
            </a:r>
            <a:r>
              <a:rPr sz="1200" b="0" i="0">
                <a:solidFill>
                  <a:srgbClr val="6B6560"/>
                </a:solidFill>
                <a:latin typeface="Segoe UI"/>
              </a:rPr>
              <a:t> — generally safe to eGFR 30, reduce monitoring frequency below 45, hold below 30.</a:t>
            </a:r>
          </a:p>
          <a:p>
            <a:pPr algn="l">
              <a:spcBef>
                <a:spcPts val="0"/>
              </a:spcBef>
              <a:spcAft>
                <a:spcPts val="600"/>
              </a:spcAft>
            </a:pPr>
            <a:r>
              <a:rPr sz="1100" b="1" i="0">
                <a:solidFill>
                  <a:srgbClr val="6B6560"/>
                </a:solidFill>
                <a:latin typeface="Segoe UI"/>
              </a:rPr>
              <a:t>[SGLT2 inhibitors]</a:t>
            </a:r>
            <a:r>
              <a:rPr sz="1200" b="0" i="0">
                <a:solidFill>
                  <a:srgbClr val="6B6560"/>
                </a:solidFill>
                <a:latin typeface="Segoe UI"/>
              </a:rPr>
              <a:t> — reassess below eGFR 45 (varies by agent and indication).</a:t>
            </a:r>
          </a:p>
          <a:p>
            <a:pPr algn="l">
              <a:spcBef>
                <a:spcPts val="0"/>
              </a:spcBef>
              <a:spcAft>
                <a:spcPts val="600"/>
              </a:spcAft>
            </a:pPr>
            <a:r>
              <a:rPr sz="1100" b="1" i="0">
                <a:solidFill>
                  <a:srgbClr val="1A5C3A"/>
                </a:solidFill>
                <a:latin typeface="Segoe UI"/>
              </a:rPr>
              <a:t>[ACE inhibitors / ARBs]</a:t>
            </a:r>
            <a:r>
              <a:rPr sz="1200" b="0" i="0">
                <a:solidFill>
                  <a:srgbClr val="6B6560"/>
                </a:solidFill>
                <a:latin typeface="Segoe UI"/>
              </a:rPr>
              <a:t> — do not discontinue for mild creatinine bump (up to 30% rise is acceptable and expected); do reassess if rise exceeds that threshold.</a:t>
            </a:r>
          </a:p>
          <a:p>
            <a:pPr algn="l">
              <a:spcBef>
                <a:spcPts val="0"/>
              </a:spcBef>
              <a:spcAft>
                <a:spcPts val="600"/>
              </a:spcAft>
            </a:pPr>
            <a:r>
              <a:rPr sz="1100" b="1" i="0">
                <a:solidFill>
                  <a:srgbClr val="6B6560"/>
                </a:solidFill>
                <a:latin typeface="Segoe UI"/>
              </a:rPr>
              <a:t>[Gabapentin/pregabalin]</a:t>
            </a:r>
            <a:r>
              <a:rPr sz="1200" b="0" i="0">
                <a:solidFill>
                  <a:srgbClr val="6B6560"/>
                </a:solidFill>
                <a:latin typeface="Segoe UI"/>
              </a:rPr>
              <a:t> — dose reduction required below eGFR 60.</a:t>
            </a:r>
          </a:p>
          <a:p>
            <a:pPr algn="l">
              <a:spcBef>
                <a:spcPts val="0"/>
              </a:spcBef>
              <a:spcAft>
                <a:spcPts val="600"/>
              </a:spcAft>
            </a:pPr>
            <a:r>
              <a:rPr sz="1100" b="1" i="0">
                <a:solidFill>
                  <a:srgbClr val="7A3B1E"/>
                </a:solidFill>
                <a:latin typeface="Segoe UI"/>
              </a:rPr>
              <a:t>[Renally-cleared antibiotics]</a:t>
            </a:r>
            <a:r>
              <a:rPr sz="1200" b="0" i="0">
                <a:solidFill>
                  <a:srgbClr val="6B6560"/>
                </a:solidFill>
                <a:latin typeface="Segoe UI"/>
              </a:rPr>
              <a:t> — flag for any acute prescribing: nitrofurantoin contraindicated below eGFR 45.</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709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is on an NSAID for chronic pain. Do I stop it today?</a:t>
            </a:r>
          </a:p>
        </p:txBody>
      </p:sp>
      <p:sp>
        <p:nvSpPr>
          <p:cNvPr id="12" name="TextBox 11"/>
          <p:cNvSpPr txBox="1"/>
          <p:nvPr/>
        </p:nvSpPr>
        <p:spPr>
          <a:xfrm>
            <a:off x="731520" y="5257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In CKD G3a and above (eGFR &lt; 60), the recommendation is to discontinue chronic NSAID use. Have a direct conversation: frame it as protecting kidney function, not removing pain management.</a:t>
            </a:r>
          </a:p>
          <a:p>
            <a:pPr algn="l">
              <a:spcBef>
                <a:spcPts val="0"/>
              </a:spcBef>
              <a:spcAft>
                <a:spcPts val="600"/>
              </a:spcAft>
            </a:pPr>
            <a:r>
              <a:rPr sz="1200" b="0" i="0">
                <a:solidFill>
                  <a:srgbClr val="6B6560"/>
                </a:solidFill>
                <a:latin typeface="Segoe UI"/>
              </a:rPr>
              <a:t>Offer alternatives — acetaminophen, topical diclofenac for localized pain, or a warm handoff to pain management if the underlying condition warrants it. Document the conversation and the plan.</a:t>
            </a:r>
          </a:p>
        </p:txBody>
      </p:sp>
      <p:sp>
        <p:nvSpPr>
          <p:cNvPr id="13" name="Rectangle 12"/>
          <p:cNvSpPr/>
          <p:nvPr/>
        </p:nvSpPr>
        <p:spPr>
          <a:xfrm>
            <a:off x="594360" y="5257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F1 — Nephrotoxins and dose-adjusted drugs — what to look for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adjust doses myself or wait for nephrology?</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For common medications with well-established renal dosing (metformin, gabapentin, many antibiotics), adjust now using the eGFR-based thresholds above. Do not wait for nephrology to make changes that are your responsibility as the PCP.</a:t>
            </a:r>
          </a:p>
          <a:p>
            <a:pPr algn="l">
              <a:spcBef>
                <a:spcPts val="0"/>
              </a:spcBef>
              <a:spcAft>
                <a:spcPts val="600"/>
              </a:spcAft>
            </a:pPr>
            <a:r>
              <a:rPr sz="1200" b="0" i="0">
                <a:solidFill>
                  <a:srgbClr val="6B6560"/>
                </a:solidFill>
                <a:latin typeface="Segoe UI"/>
              </a:rPr>
              <a:t>The e-consult is for guidance on management strategy — not for permission to stop nephrotoxins.</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5146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F2</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INITIAL LAB WORKUP</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What to order and why — the CKD baseline panel</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Why cystatin C if I already have a creatinine-based eGFR?</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Creatinine-based eGFR is affected by muscle mass, diet, and race — it systematically overestimates GFR in patients with low muscle mass (elderly, frail, malnourished) and can underestimate in bodybuilders.</a:t>
            </a:r>
          </a:p>
          <a:p>
            <a:pPr algn="l">
              <a:spcBef>
                <a:spcPts val="0"/>
              </a:spcBef>
              <a:spcAft>
                <a:spcPts val="600"/>
              </a:spcAft>
            </a:pPr>
            <a:r>
              <a:rPr sz="1200" b="0" i="0">
                <a:solidFill>
                  <a:srgbClr val="6B6560"/>
                </a:solidFill>
                <a:latin typeface="Segoe UI"/>
              </a:rPr>
              <a:t>Cystatin C is filtered at a constant rate regardless of these variables. The CKD-EPI 2021 equation using both markers is now the preferred standard. When cystatin C eGFR is meaningfully lower than creatinine eGFR, believe cystatin C — it's the more accurate number.</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patient's cystatin C eGFR came back 15 points lower than their creatinine eGFR. Is that real?</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Often yes. This is the most common anxiety point with cystatin C adoption. The lower number is not an error — it's a more accurate reflection of true GFR, particularly in older or leaner patients.</a:t>
            </a:r>
          </a:p>
          <a:p>
            <a:pPr algn="l">
              <a:spcBef>
                <a:spcPts val="0"/>
              </a:spcBef>
              <a:spcAft>
                <a:spcPts val="600"/>
              </a:spcAft>
            </a:pPr>
            <a:r>
              <a:rPr sz="1200" b="0" i="0">
                <a:solidFill>
                  <a:srgbClr val="6B6560"/>
                </a:solidFill>
                <a:latin typeface="Segoe UI"/>
              </a:rPr>
              <a:t>Stage and manage based on the cystatin C result. If this moves the patient into a higher-risk category, that's exactly the information you needed.</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166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303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does the uACR add?</a:t>
            </a:r>
          </a:p>
        </p:txBody>
      </p:sp>
      <p:sp>
        <p:nvSpPr>
          <p:cNvPr id="16" name="TextBox 15"/>
          <p:cNvSpPr txBox="1"/>
          <p:nvPr/>
        </p:nvSpPr>
        <p:spPr>
          <a:xfrm>
            <a:off x="731520" y="5715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Albuminuria is an independent risk factor for CKD progression and cardiovascular disease, separate from eGFR. A patient can have eGFR 65 with uACR &gt; 300 and be at higher risk than a patient with eGFR 52 and uACR &lt; 30.</a:t>
            </a:r>
          </a:p>
          <a:p>
            <a:pPr algn="l">
              <a:spcBef>
                <a:spcPts val="0"/>
              </a:spcBef>
              <a:spcAft>
                <a:spcPts val="600"/>
              </a:spcAft>
            </a:pPr>
            <a:r>
              <a:rPr sz="1200" b="0" i="0">
                <a:solidFill>
                  <a:srgbClr val="6B6560"/>
                </a:solidFill>
                <a:latin typeface="Segoe UI"/>
              </a:rPr>
              <a:t>Staging requires both dimensions — the G stage (eGFR) and the A stage (albuminuria). You cannot complete a CKD staging without it.</a:t>
            </a:r>
          </a:p>
        </p:txBody>
      </p:sp>
      <p:sp>
        <p:nvSpPr>
          <p:cNvPr id="17" name="Rectangle 16"/>
          <p:cNvSpPr/>
          <p:nvPr/>
        </p:nvSpPr>
        <p:spPr>
          <a:xfrm>
            <a:off x="594360" y="5715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F2 — What to order and why — the CKD baseline panel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Does the urinalysis with microscopy need to be a fresh catch?</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Ideally yes — a fresh midstream catch within 2 hours of collection gives the most reliable microscopy, particularly for RBC morphology. If the patient is in office, collect it that day.</a:t>
            </a:r>
          </a:p>
          <a:p>
            <a:pPr algn="l">
              <a:spcBef>
                <a:spcPts val="0"/>
              </a:spcBef>
              <a:spcAft>
                <a:spcPts val="600"/>
              </a:spcAft>
            </a:pPr>
            <a:r>
              <a:rPr sz="1200" b="0" i="0">
                <a:solidFill>
                  <a:srgbClr val="6B6560"/>
                </a:solidFill>
                <a:latin typeface="Segoe UI"/>
              </a:rPr>
              <a:t>If ordering remotely, instruct accordingly and note in the order.</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2860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F3</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CKD STAGING</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Staging with cystatin C eGFR — what the numbers mean</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are the GFR stages and what do they mean clinically?</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Using CKD-EPI 2021 cystatin C-based eGFR:</a:t>
            </a:r>
          </a:p>
          <a:p>
            <a:pPr algn="l">
              <a:spcBef>
                <a:spcPts val="0"/>
              </a:spcBef>
              <a:spcAft>
                <a:spcPts val="600"/>
              </a:spcAft>
            </a:pPr>
            <a:r>
              <a:rPr sz="1100" b="1" i="0">
                <a:solidFill>
                  <a:srgbClr val="1A5C3A"/>
                </a:solidFill>
                <a:latin typeface="Segoe UI"/>
              </a:rPr>
              <a:t>[G1: ≥ 90]</a:t>
            </a:r>
            <a:r>
              <a:rPr sz="1200" b="0" i="0">
                <a:solidFill>
                  <a:srgbClr val="6B6560"/>
                </a:solidFill>
                <a:latin typeface="Segoe UI"/>
              </a:rPr>
              <a:t> — Normal or high. CKD diagnosis requires other markers (albuminuria, structural abnormality). Monitor.</a:t>
            </a:r>
          </a:p>
          <a:p>
            <a:pPr algn="l">
              <a:spcBef>
                <a:spcPts val="0"/>
              </a:spcBef>
              <a:spcAft>
                <a:spcPts val="600"/>
              </a:spcAft>
            </a:pPr>
            <a:r>
              <a:rPr sz="1100" b="1" i="0">
                <a:solidFill>
                  <a:srgbClr val="1A5C3A"/>
                </a:solidFill>
                <a:latin typeface="Segoe UI"/>
              </a:rPr>
              <a:t>[G2: 60–89]</a:t>
            </a:r>
            <a:r>
              <a:rPr sz="1200" b="0" i="0">
                <a:solidFill>
                  <a:srgbClr val="6B6560"/>
                </a:solidFill>
                <a:latin typeface="Segoe UI"/>
              </a:rPr>
              <a:t> — Mildly decreased. Monitor annually if stable.</a:t>
            </a:r>
          </a:p>
          <a:p>
            <a:pPr algn="l">
              <a:spcBef>
                <a:spcPts val="0"/>
              </a:spcBef>
              <a:spcAft>
                <a:spcPts val="600"/>
              </a:spcAft>
            </a:pPr>
            <a:r>
              <a:rPr sz="1100" b="1" i="0">
                <a:solidFill>
                  <a:srgbClr val="6B6560"/>
                </a:solidFill>
                <a:latin typeface="Segoe UI"/>
              </a:rPr>
              <a:t>[G3a: 45–59]</a:t>
            </a:r>
            <a:r>
              <a:rPr sz="1200" b="0" i="0">
                <a:solidFill>
                  <a:srgbClr val="6B6560"/>
                </a:solidFill>
                <a:latin typeface="Segoe UI"/>
              </a:rPr>
              <a:t> — Mildly to moderately decreased. Begin medication review, BP optimization, RAAS therapy if proteinuric.</a:t>
            </a:r>
          </a:p>
          <a:p>
            <a:pPr algn="l">
              <a:spcBef>
                <a:spcPts val="0"/>
              </a:spcBef>
              <a:spcAft>
                <a:spcPts val="600"/>
              </a:spcAft>
            </a:pPr>
            <a:r>
              <a:rPr sz="1100" b="1" i="0">
                <a:solidFill>
                  <a:srgbClr val="7A3B1E"/>
                </a:solidFill>
                <a:latin typeface="Segoe UI"/>
              </a:rPr>
              <a:t>[G3b: 30–44]</a:t>
            </a:r>
            <a:r>
              <a:rPr sz="1200" b="0" i="0">
                <a:solidFill>
                  <a:srgbClr val="6B6560"/>
                </a:solidFill>
                <a:latin typeface="Segoe UI"/>
              </a:rPr>
              <a:t> — Moderately to severely decreased. Nephrology e-consult appropriate. Begin anemia workup, mineral/bone disease labs.</a:t>
            </a:r>
          </a:p>
          <a:p>
            <a:pPr algn="l">
              <a:spcBef>
                <a:spcPts val="0"/>
              </a:spcBef>
              <a:spcAft>
                <a:spcPts val="600"/>
              </a:spcAft>
            </a:pPr>
            <a:r>
              <a:rPr sz="1100" b="1" i="0">
                <a:solidFill>
                  <a:srgbClr val="7A3B1E"/>
                </a:solidFill>
                <a:latin typeface="Segoe UI"/>
              </a:rPr>
              <a:t>[G4: 15–29]</a:t>
            </a:r>
            <a:r>
              <a:rPr sz="1200" b="0" i="0">
                <a:solidFill>
                  <a:srgbClr val="6B6560"/>
                </a:solidFill>
                <a:latin typeface="Segoe UI"/>
              </a:rPr>
              <a:t> — Severely decreased. Nephrology referral (not just e-consult). RRT planning discussion begins.</a:t>
            </a:r>
          </a:p>
          <a:p>
            <a:pPr algn="l">
              <a:spcBef>
                <a:spcPts val="0"/>
              </a:spcBef>
              <a:spcAft>
                <a:spcPts val="600"/>
              </a:spcAft>
            </a:pPr>
            <a:r>
              <a:rPr sz="1100" b="1" i="0">
                <a:solidFill>
                  <a:srgbClr val="7A3B1E"/>
                </a:solidFill>
                <a:latin typeface="Segoe UI"/>
              </a:rPr>
              <a:t>[G5: &lt; 15]</a:t>
            </a:r>
            <a:r>
              <a:rPr sz="1200" b="0" i="0">
                <a:solidFill>
                  <a:srgbClr val="6B6560"/>
                </a:solidFill>
                <a:latin typeface="Segoe UI"/>
              </a:rPr>
              <a:t> — Kidney failure. Active nephrology co-management required.</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937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074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is G3a. What do I actually do at this visit?</a:t>
            </a:r>
          </a:p>
        </p:txBody>
      </p:sp>
      <p:sp>
        <p:nvSpPr>
          <p:cNvPr id="12" name="TextBox 11"/>
          <p:cNvSpPr txBox="1"/>
          <p:nvPr/>
        </p:nvSpPr>
        <p:spPr>
          <a:xfrm>
            <a:off x="731520" y="5486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Three things: (1) Start or optimize an ACE inhibitor or ARB if they have albuminuria or diabetes — this is the single highest-impact intervention in early CKD. (2) Get BP below 120/80 if tolerated. (3) Counsel on nephrotoxin avoidance and dietary sodium restriction.</a:t>
            </a:r>
          </a:p>
          <a:p>
            <a:pPr algn="l">
              <a:spcBef>
                <a:spcPts val="0"/>
              </a:spcBef>
              <a:spcAft>
                <a:spcPts val="600"/>
              </a:spcAft>
            </a:pPr>
            <a:r>
              <a:rPr sz="1200" b="0" i="0">
                <a:solidFill>
                  <a:srgbClr val="6B6560"/>
                </a:solidFill>
                <a:latin typeface="Segoe UI"/>
              </a:rPr>
              <a:t>An SGLT2 inhibitor is indicated if they have diabetes or heart failure — this is now a standard of care intervention, not a specialist decision.</a:t>
            </a:r>
          </a:p>
        </p:txBody>
      </p:sp>
      <p:sp>
        <p:nvSpPr>
          <p:cNvPr id="13" name="Rectangle 12"/>
          <p:cNvSpPr/>
          <p:nvPr/>
        </p:nvSpPr>
        <p:spPr>
          <a:xfrm>
            <a:off x="594360" y="5486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F3 — Staging with cystatin C eGFR — what the numbers mean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Do I need to tell the patient they have CKD?</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this is a diagnosis, and it should be documented and communicated as such. Many patients with CKD G3 have been managed for years without anyone saying the words. Naming it clearly allows the patient to understand the stakes, engage in self-management, and make informed decisions.</a:t>
            </a:r>
          </a:p>
          <a:p>
            <a:pPr algn="l">
              <a:spcBef>
                <a:spcPts val="0"/>
              </a:spcBef>
              <a:spcAft>
                <a:spcPts val="600"/>
              </a:spcAft>
            </a:pPr>
            <a:r>
              <a:rPr sz="1200" b="0" i="0">
                <a:solidFill>
                  <a:srgbClr val="6B6560"/>
                </a:solidFill>
                <a:latin typeface="Segoe UI"/>
              </a:rPr>
              <a:t>Use plain language: </a:t>
            </a:r>
            <a:r>
              <a:rPr sz="1200" b="0" i="1">
                <a:solidFill>
                  <a:srgbClr val="6B6560"/>
                </a:solidFill>
                <a:latin typeface="Segoe UI"/>
              </a:rPr>
              <a:t>"Your kidneys are working at about X% of normal. This is a condition called chronic kidney disease. It's manageable and we caught it at a stage where we can do a lot to protect them."</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9718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F4</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BLOOD PRESSURE MANAGEMENT</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BP targets in CKD — tighter than you might think</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Is 130/80 good enough?</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Current KDIGO 2021 guidelines recommend a target of &lt; 120 mmHg systolic if tolerated, based on SPRINT trial data. This is a meaningful shift from the older 130/80 standard.</a:t>
            </a:r>
          </a:p>
          <a:p>
            <a:pPr algn="l">
              <a:spcBef>
                <a:spcPts val="0"/>
              </a:spcBef>
              <a:spcAft>
                <a:spcPts val="600"/>
              </a:spcAft>
            </a:pPr>
            <a:r>
              <a:rPr sz="1200" b="0" i="0">
                <a:solidFill>
                  <a:srgbClr val="6B6560"/>
                </a:solidFill>
                <a:latin typeface="Segoe UI"/>
              </a:rPr>
              <a:t>In practice, tolerability is the limiting factor — orthostatic symptoms, syncope risk in elderly patients, and baseline hypotension all require individualization. Document your target and your rationale.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Which agents are preferred?</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ACE inhibitor or ARB is first-line in CKD with albuminuria (uACR &gt; 30) or diabetes, regardless of BP. Do not use both together — dual RAAS blockade increases harm without added benefit.</a:t>
            </a:r>
          </a:p>
          <a:p>
            <a:pPr algn="l">
              <a:spcBef>
                <a:spcPts val="0"/>
              </a:spcBef>
              <a:spcAft>
                <a:spcPts val="600"/>
              </a:spcAft>
            </a:pPr>
            <a:r>
              <a:rPr sz="1200" b="0" i="0">
                <a:solidFill>
                  <a:srgbClr val="6B6560"/>
                </a:solidFill>
                <a:latin typeface="Segoe UI"/>
              </a:rPr>
              <a:t>For additional BP control: dihydropyridine calcium channel blockers (amlodipine) and thiazide-like diuretics (chlorthalidone preferred over HCTZ in CKD) are appropriate add-ons. Loop diuretics for volume management in G4–G5.</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166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303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patient's creatinine bumped after I started the ACE inhibitor. Should I stop it?</a:t>
            </a:r>
          </a:p>
        </p:txBody>
      </p:sp>
      <p:sp>
        <p:nvSpPr>
          <p:cNvPr id="16" name="TextBox 15"/>
          <p:cNvSpPr txBox="1"/>
          <p:nvPr/>
        </p:nvSpPr>
        <p:spPr>
          <a:xfrm>
            <a:off x="731520" y="5715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Not automatically. A rise in creatinine of up to 30% after initiating an ACE inhibitor or ARB is expected, acceptable, and does not indicate harm — it reflects the intended hemodynamic effect on the glomerulus.</a:t>
            </a:r>
          </a:p>
          <a:p>
            <a:pPr algn="l">
              <a:spcBef>
                <a:spcPts val="0"/>
              </a:spcBef>
              <a:spcAft>
                <a:spcPts val="600"/>
              </a:spcAft>
            </a:pPr>
            <a:r>
              <a:rPr sz="1200" b="0" i="0">
                <a:solidFill>
                  <a:srgbClr val="6B6560"/>
                </a:solidFill>
                <a:latin typeface="Segoe UI"/>
              </a:rPr>
              <a:t>Recheck in 2 weeks. If the rise is greater than 30% or potassium rises above 5.5, then hold and reassess. If you stop every ACE inhibitor that causes any creatinine bump, you will deprive CKD patients of their most protective therapy.</a:t>
            </a:r>
          </a:p>
        </p:txBody>
      </p:sp>
      <p:sp>
        <p:nvSpPr>
          <p:cNvPr id="17" name="Rectangle 16"/>
          <p:cNvSpPr/>
          <p:nvPr/>
        </p:nvSpPr>
        <p:spPr>
          <a:xfrm>
            <a:off x="594360" y="5715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F5</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RAPID PROGRESSION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eGFR declining faster than expected — what to do</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do I know if the decline is rapid?</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Pull prior creatinine values from the chart — at minimum 12 months back, ideally 24. Calculate the trajectory. A decline of more than 5 mL/min/1.73m² per year is considered rapid and warrants e-consult regardless of current stage.</a:t>
            </a:r>
          </a:p>
          <a:p>
            <a:pPr algn="l">
              <a:spcBef>
                <a:spcPts val="0"/>
              </a:spcBef>
              <a:spcAft>
                <a:spcPts val="600"/>
              </a:spcAft>
            </a:pPr>
            <a:r>
              <a:rPr sz="1200" b="0" i="0">
                <a:solidFill>
                  <a:srgbClr val="6B6560"/>
                </a:solidFill>
                <a:latin typeface="Segoe UI"/>
              </a:rPr>
              <a:t>A single low value without prior data is not the same as demonstrated progression — establish the trend first.</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80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Could something acute be driving this?</a:t>
            </a:r>
          </a:p>
        </p:txBody>
      </p:sp>
      <p:sp>
        <p:nvSpPr>
          <p:cNvPr id="12" name="TextBox 11"/>
          <p:cNvSpPr txBox="1"/>
          <p:nvPr/>
        </p:nvSpPr>
        <p:spPr>
          <a:xfrm>
            <a:off x="731520" y="3429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always rule out AKI superimposed on CKD before concluding progression. Recent illness, volume depletion, new nephrotoxin exposure, or urinary obstruction can all cause acute drops.</a:t>
            </a:r>
          </a:p>
          <a:p>
            <a:pPr algn="l">
              <a:spcBef>
                <a:spcPts val="0"/>
              </a:spcBef>
              <a:spcAft>
                <a:spcPts val="600"/>
              </a:spcAft>
            </a:pPr>
            <a:r>
              <a:rPr sz="1200" b="0" i="0">
                <a:solidFill>
                  <a:srgbClr val="6B6560"/>
                </a:solidFill>
                <a:latin typeface="Segoe UI"/>
              </a:rPr>
              <a:t>If there's any question, recheck in 4–6 weeks after addressing potential acute factors before framing as progression.</a:t>
            </a:r>
          </a:p>
        </p:txBody>
      </p:sp>
      <p:sp>
        <p:nvSpPr>
          <p:cNvPr id="13" name="Rectangle 12"/>
          <p:cNvSpPr/>
          <p:nvPr/>
        </p:nvSpPr>
        <p:spPr>
          <a:xfrm>
            <a:off x="594360" y="3429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709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F6</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ADVANCED CKD</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eGFR &lt; 30 — escalation and preparation</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changes at G4?</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Several things happen simultaneously at G4 that go beyond standard PCP management:</a:t>
            </a:r>
          </a:p>
          <a:p>
            <a:pPr algn="l">
              <a:spcBef>
                <a:spcPts val="0"/>
              </a:spcBef>
              <a:spcAft>
                <a:spcPts val="600"/>
              </a:spcAft>
            </a:pPr>
            <a:r>
              <a:rPr sz="1200" b="0" i="0">
                <a:solidFill>
                  <a:srgbClr val="6B6560"/>
                </a:solidFill>
                <a:latin typeface="Segoe UI"/>
              </a:rPr>
              <a:t>(1) Nephrology referral (not just e-consult) is indicated. (2) Mineral and bone disease workup: PTH, phosphorus, 25-OH vitamin D, calcium. (3) Anemia of CKD evaluation. (4) RRT planning conversation — not to alarm, but to inform. Patients who arrive at dialysis having never discussed it are poorly prepared.</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be starting erythropoiesis-stimulating agents?</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ESA initiation in CKD is a nephrology decision. Your role at G4 is to identify anemia, complete the workup (iron studies, B12, folate, retic count), correct iron deficiency if present, and document.</a:t>
            </a:r>
          </a:p>
          <a:p>
            <a:pPr algn="l">
              <a:spcBef>
                <a:spcPts val="0"/>
              </a:spcBef>
              <a:spcAft>
                <a:spcPts val="600"/>
              </a:spcAft>
            </a:pPr>
            <a:r>
              <a:rPr sz="1200" b="0" i="0">
                <a:solidFill>
                  <a:srgbClr val="6B6560"/>
                </a:solidFill>
                <a:latin typeface="Segoe UI"/>
              </a:rPr>
              <a:t>The e-consult to nephrology should include this workup so they can advise on ESA candidacy with full information in hand.</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937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F7</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PROTEINURIA</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Severely increased albuminuria — uACR &gt; 300</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Is this nephrotic range?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Not necessarily — nephrotic range proteinuria is traditionally defined as &gt; 3.5 g/day on 24-hour urine, or roughly uACR &gt; 2000–3500 mg/g. A uACR of 300–2000 is severely increased but not nephrotic.</a:t>
            </a:r>
          </a:p>
          <a:p>
            <a:pPr algn="l">
              <a:spcBef>
                <a:spcPts val="0"/>
              </a:spcBef>
              <a:spcAft>
                <a:spcPts val="600"/>
              </a:spcAft>
            </a:pPr>
            <a:r>
              <a:rPr sz="1200" b="0" i="0">
                <a:solidFill>
                  <a:srgbClr val="6B6560"/>
                </a:solidFill>
                <a:latin typeface="Segoe UI"/>
              </a:rPr>
              <a:t>However, any uACR &gt; 300 warrants e-consult regardless of eGFR, as it indicates significant glomerular pathology and accelerated progression risk.</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80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repeat it before acting?</a:t>
            </a:r>
          </a:p>
        </p:txBody>
      </p:sp>
      <p:sp>
        <p:nvSpPr>
          <p:cNvPr id="12" name="TextBox 11"/>
          <p:cNvSpPr txBox="1"/>
          <p:nvPr/>
        </p:nvSpPr>
        <p:spPr>
          <a:xfrm>
            <a:off x="731520" y="3429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 single elevated uACR should be confirmed on a second sample (ideally first morning void) before staging — transient elevations occur with fever, exercise, and UTI.</a:t>
            </a:r>
          </a:p>
          <a:p>
            <a:pPr algn="l">
              <a:spcBef>
                <a:spcPts val="0"/>
              </a:spcBef>
              <a:spcAft>
                <a:spcPts val="600"/>
              </a:spcAft>
            </a:pPr>
            <a:r>
              <a:rPr sz="1200" b="0" i="0">
                <a:solidFill>
                  <a:srgbClr val="6B6560"/>
                </a:solidFill>
                <a:latin typeface="Segoe UI"/>
              </a:rPr>
              <a:t>However, if the value is markedly elevated (&gt; 300) and there's no obvious transient cause, begin the workup in parallel with confirmation rather than waiting.</a:t>
            </a:r>
          </a:p>
        </p:txBody>
      </p:sp>
      <p:sp>
        <p:nvSpPr>
          <p:cNvPr id="13" name="Rectangle 12"/>
          <p:cNvSpPr/>
          <p:nvPr/>
        </p:nvSpPr>
        <p:spPr>
          <a:xfrm>
            <a:off x="594360" y="3429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709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F8</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UNKNOWN ETIOLOGY</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CKD without a clear cause</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My patient has CKD but no diabetes, no hypertension, no obstructive history. What now?</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This is the e-consult indication — unexplained CKD requires nephrology input to consider glomerulonephritis, genetic nephropathy, or other primary renal disease.</a:t>
            </a:r>
          </a:p>
          <a:p>
            <a:pPr algn="l">
              <a:spcBef>
                <a:spcPts val="0"/>
              </a:spcBef>
              <a:spcAft>
                <a:spcPts val="600"/>
              </a:spcAft>
            </a:pPr>
            <a:r>
              <a:rPr sz="1200" b="0" i="0">
                <a:solidFill>
                  <a:srgbClr val="6B6560"/>
                </a:solidFill>
                <a:latin typeface="Segoe UI"/>
              </a:rPr>
              <a:t>Before the consult, complete: urinalysis with microscopy (looking for casts), uACR, renal ultrasound, serum protein electrophoresis in patients &gt; 40 (to screen for myeloma), ANA and complement if clinical picture suggests autoimmune.</a:t>
            </a:r>
          </a:p>
          <a:p>
            <a:pPr algn="l">
              <a:spcBef>
                <a:spcPts val="0"/>
              </a:spcBef>
              <a:spcAft>
                <a:spcPts val="600"/>
              </a:spcAft>
            </a:pPr>
            <a:r>
              <a:rPr sz="1200" b="0" i="0">
                <a:solidFill>
                  <a:srgbClr val="6B6560"/>
                </a:solidFill>
                <a:latin typeface="Segoe UI"/>
              </a:rPr>
              <a:t>Document what you've ruled out — the nephrologist can then focus on what remains.</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F9</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HEMATURIA</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Persistent hematuria with dysmorphic RBCs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 dysmorphic RBCs mean?</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Dysmorphic RBCs — particularly acanthocytes — on urine microscopy indicate glomerular origin of bleeding, as opposed to urothelial sources (stone, tumor, infection). This is a nephrology finding, not a urology finding.</a:t>
            </a:r>
          </a:p>
          <a:p>
            <a:pPr algn="l">
              <a:spcBef>
                <a:spcPts val="0"/>
              </a:spcBef>
              <a:spcAft>
                <a:spcPts val="600"/>
              </a:spcAft>
            </a:pPr>
            <a:r>
              <a:rPr sz="1200" b="0" i="0">
                <a:solidFill>
                  <a:srgbClr val="6B6560"/>
                </a:solidFill>
                <a:latin typeface="Segoe UI"/>
              </a:rPr>
              <a:t>If the microscopy report specifically mentions dysmorphic RBCs or acanthocytes, the e-consult goes to nephrology, not to urology for cystoscopy.</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if the report just says "RBCs present" without commenting on morphology?</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Standard urinalysis does not assess morphology — that requires microscopy with a trained eye. If you have &gt; 5 RBCs/hpf on two separate specimens without an obvious benign cause, request formal microscopy.</a:t>
            </a:r>
          </a:p>
          <a:p>
            <a:pPr algn="l">
              <a:spcBef>
                <a:spcPts val="0"/>
              </a:spcBef>
              <a:spcAft>
                <a:spcPts val="600"/>
              </a:spcAft>
            </a:pPr>
            <a:r>
              <a:rPr sz="1200" b="0" i="0">
                <a:solidFill>
                  <a:srgbClr val="6B6560"/>
                </a:solidFill>
                <a:latin typeface="Segoe UI"/>
              </a:rPr>
              <a:t>In many practices this requires a specific order or a call to the lab.</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937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l">
              <a:spcBef>
                <a:spcPts val="0"/>
              </a:spcBef>
              <a:spcAft>
                <a:spcPts val="400"/>
              </a:spcAft>
            </a:pPr>
            <a:r>
              <a:rPr sz="1200" b="0" i="0">
                <a:solidFill>
                  <a:srgbClr val="CCDDCC"/>
                </a:solidFill>
                <a:latin typeface="Segoe UI"/>
              </a:rPr>
              <a:t>MERIDIAN</a:t>
            </a:r>
          </a:p>
        </p:txBody>
      </p:sp>
      <p:sp>
        <p:nvSpPr>
          <p:cNvPr id="3" name="TextBox 2"/>
          <p:cNvSpPr txBox="1"/>
          <p:nvPr/>
        </p:nvSpPr>
        <p:spPr>
          <a:xfrm>
            <a:off x="914400" y="2743200"/>
            <a:ext cx="10058400" cy="914400"/>
          </a:xfrm>
          <a:prstGeom prst="rect">
            <a:avLst/>
          </a:prstGeom>
          <a:noFill/>
        </p:spPr>
        <p:txBody>
          <a:bodyPr wrap="square">
            <a:spAutoFit/>
          </a:bodyPr>
          <a:lstStyle/>
          <a:p>
            <a:pPr algn="l">
              <a:spcBef>
                <a:spcPts val="0"/>
              </a:spcBef>
              <a:spcAft>
                <a:spcPts val="400"/>
              </a:spcAft>
            </a:pPr>
            <a:r>
              <a:rPr sz="2800" b="1" i="0">
                <a:solidFill>
                  <a:srgbClr val="FFFFFF"/>
                </a:solidFill>
                <a:latin typeface="Segoe UI"/>
              </a:rPr>
              <a:t>CKD &amp; Cystatin C</a:t>
            </a:r>
          </a:p>
        </p:txBody>
      </p:sp>
      <p:sp>
        <p:nvSpPr>
          <p:cNvPr id="4" name="TextBox 3"/>
          <p:cNvSpPr txBox="1"/>
          <p:nvPr/>
        </p:nvSpPr>
        <p:spPr>
          <a:xfrm>
            <a:off x="914400" y="4114800"/>
            <a:ext cx="8229600" cy="1371600"/>
          </a:xfrm>
          <a:prstGeom prst="rect">
            <a:avLst/>
          </a:prstGeom>
          <a:noFill/>
        </p:spPr>
        <p:txBody>
          <a:bodyPr wrap="square">
            <a:spAutoFit/>
          </a:bodyPr>
          <a:lstStyle/>
          <a:p>
            <a:pPr algn="l">
              <a:spcBef>
                <a:spcPts val="0"/>
              </a:spcBef>
              <a:spcAft>
                <a:spcPts val="400"/>
              </a:spcAft>
            </a:pPr>
            <a:r>
              <a:rPr sz="1300" b="0" i="1">
                <a:solidFill>
                  <a:srgbClr val="CCDDCC"/>
                </a:solidFill>
                <a:latin typeface="Segoe UI"/>
              </a:rPr>
              <a:t>For internal use only. This is a viable first pathway, not the only pathway. Experienced providers retain clinical discretion.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