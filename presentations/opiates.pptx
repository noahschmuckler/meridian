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A5C3A"/>
        </a:solidFill>
        <a:effectLst/>
      </p:bgPr>
    </p:bg>
    <p:spTree>
      <p:nvGrpSpPr>
        <p:cNvPr id="1" name=""/>
        <p:cNvGrpSpPr/>
        <p:nvPr/>
      </p:nvGrpSpPr>
      <p:grpSpPr/>
      <p:sp>
        <p:nvSpPr>
          <p:cNvPr id="2" name="TextBox 1"/>
          <p:cNvSpPr txBox="1"/>
          <p:nvPr/>
        </p:nvSpPr>
        <p:spPr>
          <a:xfrm>
            <a:off x="914400" y="1371600"/>
            <a:ext cx="10058400" cy="457200"/>
          </a:xfrm>
          <a:prstGeom prst="rect">
            <a:avLst/>
          </a:prstGeom>
          <a:noFill/>
        </p:spPr>
        <p:txBody>
          <a:bodyPr wrap="square">
            <a:spAutoFit/>
          </a:bodyPr>
          <a:lstStyle/>
          <a:p>
            <a:pPr algn="l">
              <a:spcBef>
                <a:spcPts val="0"/>
              </a:spcBef>
              <a:spcAft>
                <a:spcPts val="400"/>
              </a:spcAft>
              <a:defRPr>
                <a:latin typeface="Segoe UI"/>
              </a:defRPr>
            </a:pPr>
            <a:r>
              <a:rPr sz="1200" b="0" i="0">
                <a:solidFill>
                  <a:srgbClr val="FFFFFF"/>
                </a:solidFill>
                <a:latin typeface="Segoe UI"/>
              </a:rPr>
              <a:t>MERIDIAN</a:t>
            </a:r>
          </a:p>
        </p:txBody>
      </p:sp>
      <p:sp>
        <p:nvSpPr>
          <p:cNvPr id="3" name="TextBox 2"/>
          <p:cNvSpPr txBox="1"/>
          <p:nvPr/>
        </p:nvSpPr>
        <p:spPr>
          <a:xfrm>
            <a:off x="914400" y="2011680"/>
            <a:ext cx="10058400" cy="1371600"/>
          </a:xfrm>
          <a:prstGeom prst="rect">
            <a:avLst/>
          </a:prstGeom>
          <a:noFill/>
        </p:spPr>
        <p:txBody>
          <a:bodyPr wrap="square">
            <a:spAutoFit/>
          </a:bodyPr>
          <a:lstStyle/>
          <a:p>
            <a:pPr algn="l">
              <a:spcBef>
                <a:spcPts val="0"/>
              </a:spcBef>
              <a:spcAft>
                <a:spcPts val="400"/>
              </a:spcAft>
            </a:pPr>
            <a:r>
              <a:rPr sz="3600" b="1" i="0">
                <a:solidFill>
                  <a:srgbClr val="FFFFFF"/>
                </a:solidFill>
                <a:latin typeface="Segoe UI"/>
              </a:rPr>
              <a:t>Chronic Opiates</a:t>
            </a:r>
          </a:p>
        </p:txBody>
      </p:sp>
      <p:sp>
        <p:nvSpPr>
          <p:cNvPr id="4" name="TextBox 3"/>
          <p:cNvSpPr txBox="1"/>
          <p:nvPr/>
        </p:nvSpPr>
        <p:spPr>
          <a:xfrm>
            <a:off x="914400" y="3291840"/>
            <a:ext cx="10058400" cy="731520"/>
          </a:xfrm>
          <a:prstGeom prst="rect">
            <a:avLst/>
          </a:prstGeom>
          <a:noFill/>
        </p:spPr>
        <p:txBody>
          <a:bodyPr wrap="square">
            <a:spAutoFit/>
          </a:bodyPr>
          <a:lstStyle/>
          <a:p>
            <a:pPr algn="l">
              <a:spcBef>
                <a:spcPts val="0"/>
              </a:spcBef>
              <a:spcAft>
                <a:spcPts val="400"/>
              </a:spcAft>
            </a:pPr>
            <a:r>
              <a:rPr sz="2000" b="0" i="1">
                <a:solidFill>
                  <a:srgbClr val="CCDDCC"/>
                </a:solidFill>
                <a:latin typeface="Segoe UI"/>
              </a:rPr>
              <a:t>Inherited Patient</a:t>
            </a:r>
          </a:p>
        </p:txBody>
      </p:sp>
      <p:sp>
        <p:nvSpPr>
          <p:cNvPr id="5" name="TextBox 4"/>
          <p:cNvSpPr txBox="1"/>
          <p:nvPr/>
        </p:nvSpPr>
        <p:spPr>
          <a:xfrm>
            <a:off x="914400" y="4389120"/>
            <a:ext cx="8229600" cy="1371600"/>
          </a:xfrm>
          <a:prstGeom prst="rect">
            <a:avLst/>
          </a:prstGeom>
          <a:noFill/>
        </p:spPr>
        <p:txBody>
          <a:bodyPr wrap="square">
            <a:spAutoFit/>
          </a:bodyPr>
          <a:lstStyle/>
          <a:p>
            <a:pPr algn="l">
              <a:spcBef>
                <a:spcPts val="0"/>
              </a:spcBef>
              <a:spcAft>
                <a:spcPts val="400"/>
              </a:spcAft>
            </a:pPr>
            <a:r>
              <a:rPr sz="1400" b="0" i="1">
                <a:solidFill>
                  <a:srgbClr val="CCDDCC"/>
                </a:solidFill>
                <a:latin typeface="Segoe UI"/>
              </a:rPr>
              <a:t>A patient is transferring to your panel on a chronic opiate regimen. This is one of the highest-anxiety handoffs in primary care — and one of the most common. Your job at the first visit is not to solve the problem. It is to establish the relationship, complete a structured assessment, and determine whether you can continue, need to modify, or need to escalate. Do not discontinue at the first visit without a safety plan in place.</a:t>
            </a:r>
          </a:p>
        </p:txBody>
      </p:sp>
      <p:sp>
        <p:nvSpPr>
          <p:cNvPr id="6" name="Rectangle 5"/>
          <p:cNvSpPr/>
          <p:nvPr/>
        </p:nvSpPr>
        <p:spPr>
          <a:xfrm>
            <a:off x="914400" y="6217920"/>
            <a:ext cx="10362895" cy="25400"/>
          </a:xfrm>
          <a:prstGeom prst="rect">
            <a:avLst/>
          </a:prstGeom>
          <a:solidFill>
            <a:srgbClr val="CCDD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DFCF9"/>
        </a:solidFill>
        <a:effectLst/>
      </p:bgPr>
    </p:bg>
    <p:spTree>
      <p:nvGrpSpPr>
        <p:cNvPr id="1" name=""/>
        <p:cNvGrpSpPr/>
        <p:nvPr/>
      </p:nvGrpSpPr>
      <p:grpSpPr/>
      <p:sp>
        <p:nvSpPr>
          <p:cNvPr id="2" name="Rectangle 1"/>
          <p:cNvSpPr/>
          <p:nvPr/>
        </p:nvSpPr>
        <p:spPr>
          <a:xfrm>
            <a:off x="0" y="0"/>
            <a:ext cx="12191695" cy="731520"/>
          </a:xfrm>
          <a:prstGeom prst="rect">
            <a:avLst/>
          </a:prstGeom>
          <a:solidFill>
            <a:srgbClr val="1A5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457200"/>
          </a:xfrm>
          <a:prstGeom prst="rect">
            <a:avLst/>
          </a:prstGeom>
          <a:noFill/>
        </p:spPr>
        <p:txBody>
          <a:bodyPr wrap="square">
            <a:spAutoFit/>
          </a:bodyPr>
          <a:lstStyle/>
          <a:p>
            <a:pPr algn="l">
              <a:spcBef>
                <a:spcPts val="0"/>
              </a:spcBef>
              <a:spcAft>
                <a:spcPts val="400"/>
              </a:spcAft>
            </a:pPr>
            <a:r>
              <a:rPr sz="1100" b="1" i="0">
                <a:solidFill>
                  <a:srgbClr val="FFFFFF"/>
                </a:solidFill>
                <a:latin typeface="Segoe UI"/>
              </a:rPr>
              <a:t>BEFORE YOU DECIDE — VERIFY ALL FOUR</a:t>
            </a:r>
          </a:p>
        </p:txBody>
      </p:sp>
      <p:sp>
        <p:nvSpPr>
          <p:cNvPr id="4" name="Rectangle 3"/>
          <p:cNvSpPr/>
          <p:nvPr/>
        </p:nvSpPr>
        <p:spPr>
          <a:xfrm>
            <a:off x="731520" y="1135380"/>
            <a:ext cx="201168" cy="201168"/>
          </a:xfrm>
          <a:prstGeom prst="rect">
            <a:avLst/>
          </a:prstGeom>
          <a:noFill/>
          <a:ln w="19050">
            <a:solidFill>
              <a:srgbClr val="D6D0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1097280"/>
            <a:ext cx="8686800" cy="548640"/>
          </a:xfrm>
          <a:prstGeom prst="rect">
            <a:avLst/>
          </a:prstGeom>
          <a:noFill/>
        </p:spPr>
        <p:txBody>
          <a:bodyPr wrap="square">
            <a:spAutoFit/>
          </a:bodyPr>
          <a:lstStyle/>
          <a:p>
            <a:pPr algn="l">
              <a:spcBef>
                <a:spcPts val="0"/>
              </a:spcBef>
              <a:spcAft>
                <a:spcPts val="400"/>
              </a:spcAft>
            </a:pPr>
            <a:r>
              <a:rPr sz="1500" b="0" i="0">
                <a:solidFill>
                  <a:srgbClr val="1C1A16"/>
                </a:solidFill>
                <a:latin typeface="Segoe UI"/>
              </a:rPr>
              <a:t>PDMP reviewed — single prescriber, single pharmacy, consistent quantities, no concurrent controlled substances of concern</a:t>
            </a:r>
            <a:r>
              <a:rPr sz="1000" b="1" i="0">
                <a:solidFill>
                  <a:srgbClr val="1A5C3A"/>
                </a:solidFill>
                <a:latin typeface="Segoe UI"/>
              </a:rPr>
              <a:t>  F1</a:t>
            </a:r>
          </a:p>
        </p:txBody>
      </p:sp>
      <p:sp>
        <p:nvSpPr>
          <p:cNvPr id="6" name="Rectangle 5"/>
          <p:cNvSpPr/>
          <p:nvPr/>
        </p:nvSpPr>
        <p:spPr>
          <a:xfrm>
            <a:off x="731520" y="1729740"/>
            <a:ext cx="201168" cy="201168"/>
          </a:xfrm>
          <a:prstGeom prst="rect">
            <a:avLst/>
          </a:prstGeom>
          <a:noFill/>
          <a:ln w="19050">
            <a:solidFill>
              <a:srgbClr val="D6D0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1691640"/>
            <a:ext cx="8686800" cy="548640"/>
          </a:xfrm>
          <a:prstGeom prst="rect">
            <a:avLst/>
          </a:prstGeom>
          <a:noFill/>
        </p:spPr>
        <p:txBody>
          <a:bodyPr wrap="square">
            <a:spAutoFit/>
          </a:bodyPr>
          <a:lstStyle/>
          <a:p>
            <a:pPr algn="l">
              <a:spcBef>
                <a:spcPts val="0"/>
              </a:spcBef>
              <a:spcAft>
                <a:spcPts val="400"/>
              </a:spcAft>
            </a:pPr>
            <a:r>
              <a:rPr sz="1500" b="0" i="0">
                <a:solidFill>
                  <a:srgbClr val="1C1A16"/>
                </a:solidFill>
                <a:latin typeface="Segoe UI"/>
              </a:rPr>
              <a:t>Controlled substance agreement on file or completed at this visit — patient understands monitoring expectations</a:t>
            </a:r>
            <a:r>
              <a:rPr sz="1000" b="1" i="0">
                <a:solidFill>
                  <a:srgbClr val="1A5C3A"/>
                </a:solidFill>
                <a:latin typeface="Segoe UI"/>
              </a:rPr>
              <a:t>  F2</a:t>
            </a:r>
          </a:p>
        </p:txBody>
      </p:sp>
      <p:sp>
        <p:nvSpPr>
          <p:cNvPr id="8" name="Rectangle 7"/>
          <p:cNvSpPr/>
          <p:nvPr/>
        </p:nvSpPr>
        <p:spPr>
          <a:xfrm>
            <a:off x="731520" y="2324100"/>
            <a:ext cx="201168" cy="201168"/>
          </a:xfrm>
          <a:prstGeom prst="rect">
            <a:avLst/>
          </a:prstGeom>
          <a:noFill/>
          <a:ln w="19050">
            <a:solidFill>
              <a:srgbClr val="D6D0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2286000"/>
            <a:ext cx="8686800" cy="548640"/>
          </a:xfrm>
          <a:prstGeom prst="rect">
            <a:avLst/>
          </a:prstGeom>
          <a:noFill/>
        </p:spPr>
        <p:txBody>
          <a:bodyPr wrap="square">
            <a:spAutoFit/>
          </a:bodyPr>
          <a:lstStyle/>
          <a:p>
            <a:pPr algn="l">
              <a:spcBef>
                <a:spcPts val="0"/>
              </a:spcBef>
              <a:spcAft>
                <a:spcPts val="400"/>
              </a:spcAft>
            </a:pPr>
            <a:r>
              <a:rPr sz="1500" b="0" i="0">
                <a:solidFill>
                  <a:srgbClr val="1C1A16"/>
                </a:solidFill>
                <a:latin typeface="Segoe UI"/>
              </a:rPr>
              <a:t>Urine drug screen obtained at intake — results reviewed and documented</a:t>
            </a:r>
            <a:r>
              <a:rPr sz="1000" b="1" i="0">
                <a:solidFill>
                  <a:srgbClr val="1A5C3A"/>
                </a:solidFill>
                <a:latin typeface="Segoe UI"/>
              </a:rPr>
              <a:t>  F3</a:t>
            </a:r>
          </a:p>
        </p:txBody>
      </p:sp>
      <p:sp>
        <p:nvSpPr>
          <p:cNvPr id="10" name="Rectangle 9"/>
          <p:cNvSpPr/>
          <p:nvPr/>
        </p:nvSpPr>
        <p:spPr>
          <a:xfrm>
            <a:off x="731520" y="2918460"/>
            <a:ext cx="201168" cy="201168"/>
          </a:xfrm>
          <a:prstGeom prst="rect">
            <a:avLst/>
          </a:prstGeom>
          <a:noFill/>
          <a:ln w="19050">
            <a:solidFill>
              <a:srgbClr val="D6D0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2880360"/>
            <a:ext cx="8686800" cy="548640"/>
          </a:xfrm>
          <a:prstGeom prst="rect">
            <a:avLst/>
          </a:prstGeom>
          <a:noFill/>
        </p:spPr>
        <p:txBody>
          <a:bodyPr wrap="square">
            <a:spAutoFit/>
          </a:bodyPr>
          <a:lstStyle/>
          <a:p>
            <a:pPr algn="l">
              <a:spcBef>
                <a:spcPts val="0"/>
              </a:spcBef>
              <a:spcAft>
                <a:spcPts val="400"/>
              </a:spcAft>
            </a:pPr>
            <a:r>
              <a:rPr sz="1500" b="0" i="0">
                <a:solidFill>
                  <a:srgbClr val="1C1A16"/>
                </a:solidFill>
                <a:latin typeface="Segoe UI"/>
              </a:rPr>
              <a:t>Current MME calculated — dose is documented and clinical rationale is present for doses above 50 MME/day</a:t>
            </a:r>
            <a:r>
              <a:rPr sz="1000" b="1" i="0">
                <a:solidFill>
                  <a:srgbClr val="1A5C3A"/>
                </a:solidFill>
                <a:latin typeface="Segoe UI"/>
              </a:rPr>
              <a:t>  F4</a:t>
            </a:r>
          </a:p>
        </p:txBody>
      </p:sp>
      <p:sp>
        <p:nvSpPr>
          <p:cNvPr id="12" name="Rectangle 11"/>
          <p:cNvSpPr/>
          <p:nvPr/>
        </p:nvSpPr>
        <p:spPr>
          <a:xfrm>
            <a:off x="640080" y="3749040"/>
            <a:ext cx="50800" cy="1463040"/>
          </a:xfrm>
          <a:prstGeom prst="rect">
            <a:avLst/>
          </a:prstGeom>
          <a:solidFill>
            <a:srgbClr val="1A5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85800" y="3749040"/>
            <a:ext cx="9601200" cy="1463040"/>
          </a:xfrm>
          <a:prstGeom prst="rect">
            <a:avLst/>
          </a:prstGeom>
          <a:solidFill>
            <a:srgbClr val="EA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3840480"/>
            <a:ext cx="9144000" cy="274320"/>
          </a:xfrm>
          <a:prstGeom prst="rect">
            <a:avLst/>
          </a:prstGeom>
          <a:noFill/>
        </p:spPr>
        <p:txBody>
          <a:bodyPr wrap="square">
            <a:spAutoFit/>
          </a:bodyPr>
          <a:lstStyle/>
          <a:p>
            <a:pPr algn="l">
              <a:spcBef>
                <a:spcPts val="0"/>
              </a:spcBef>
              <a:spcAft>
                <a:spcPts val="400"/>
              </a:spcAft>
            </a:pPr>
            <a:r>
              <a:rPr sz="1000" b="1" i="0">
                <a:solidFill>
                  <a:srgbClr val="1A5C3A"/>
                </a:solidFill>
                <a:latin typeface="Segoe UI"/>
              </a:rPr>
              <a:t>ALL BOXES CHECKED — CONTINUE WITH MONITORING</a:t>
            </a:r>
          </a:p>
        </p:txBody>
      </p:sp>
      <p:sp>
        <p:nvSpPr>
          <p:cNvPr id="15" name="TextBox 14"/>
          <p:cNvSpPr txBox="1"/>
          <p:nvPr/>
        </p:nvSpPr>
        <p:spPr>
          <a:xfrm>
            <a:off x="914400" y="4160520"/>
            <a:ext cx="9144000" cy="548640"/>
          </a:xfrm>
          <a:prstGeom prst="rect">
            <a:avLst/>
          </a:prstGeom>
          <a:noFill/>
        </p:spPr>
        <p:txBody>
          <a:bodyPr wrap="square">
            <a:spAutoFit/>
          </a:bodyPr>
          <a:lstStyle/>
          <a:p>
            <a:pPr algn="l">
              <a:spcBef>
                <a:spcPts val="0"/>
              </a:spcBef>
              <a:spcAft>
                <a:spcPts val="400"/>
              </a:spcAft>
            </a:pPr>
            <a:r>
              <a:rPr sz="1300" b="0" i="0">
                <a:solidFill>
                  <a:srgbClr val="1C1A16"/>
                </a:solidFill>
                <a:latin typeface="Segoe UI"/>
              </a:rPr>
              <a:t>Reasonable basis to continue current regimen at this visit. Document using SmartPhrase below. Schedule follow-up at 90 days or sooner if any concerns emerge. Monitoring is ongoing — this is not a one-time clearance. You are institutionally supported.</a:t>
            </a:r>
          </a:p>
        </p:txBody>
      </p:sp>
      <p:sp>
        <p:nvSpPr>
          <p:cNvPr id="16" name="TextBox 15"/>
          <p:cNvSpPr txBox="1"/>
          <p:nvPr/>
        </p:nvSpPr>
        <p:spPr>
          <a:xfrm>
            <a:off x="914400" y="4754880"/>
            <a:ext cx="3657600" cy="320040"/>
          </a:xfrm>
          <a:prstGeom prst="rect">
            <a:avLst/>
          </a:prstGeom>
          <a:noFill/>
        </p:spPr>
        <p:txBody>
          <a:bodyPr wrap="square">
            <a:spAutoFit/>
          </a:bodyPr>
          <a:lstStyle/>
          <a:p>
            <a:pPr algn="l">
              <a:spcBef>
                <a:spcPts val="0"/>
              </a:spcBef>
              <a:spcAft>
                <a:spcPts val="400"/>
              </a:spcAft>
            </a:pPr>
            <a:r>
              <a:rPr sz="1100" b="0" i="0">
                <a:solidFill>
                  <a:srgbClr val="1A5C3A"/>
                </a:solidFill>
                <a:latin typeface="Segoe UI"/>
              </a:rPr>
              <a:t>SmartPhrase: .OPIATES-CONT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DFCF9"/>
        </a:solidFill>
        <a:effectLst/>
      </p:bgPr>
    </p:bg>
    <p:spTree>
      <p:nvGrpSpPr>
        <p:cNvPr id="1" name=""/>
        <p:cNvGrpSpPr/>
        <p:nvPr/>
      </p:nvGrpSpPr>
      <p:grpSpPr/>
      <p:sp>
        <p:nvSpPr>
          <p:cNvPr id="2" name="Rectangle 1"/>
          <p:cNvSpPr/>
          <p:nvPr/>
        </p:nvSpPr>
        <p:spPr>
          <a:xfrm>
            <a:off x="0" y="0"/>
            <a:ext cx="12191695" cy="731520"/>
          </a:xfrm>
          <a:prstGeom prst="rect">
            <a:avLst/>
          </a:prstGeom>
          <a:solidFill>
            <a:srgbClr val="7A3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457200"/>
          </a:xfrm>
          <a:prstGeom prst="rect">
            <a:avLst/>
          </a:prstGeom>
          <a:noFill/>
        </p:spPr>
        <p:txBody>
          <a:bodyPr wrap="square">
            <a:spAutoFit/>
          </a:bodyPr>
          <a:lstStyle/>
          <a:p>
            <a:pPr algn="l">
              <a:spcBef>
                <a:spcPts val="0"/>
              </a:spcBef>
              <a:spcAft>
                <a:spcPts val="400"/>
              </a:spcAft>
            </a:pPr>
            <a:r>
              <a:rPr sz="1100" b="1" i="0">
                <a:solidFill>
                  <a:srgbClr val="FFFFFF"/>
                </a:solidFill>
                <a:latin typeface="Segoe UI"/>
              </a:rPr>
              <a:t>ESCALATE IF ANY APPLY</a:t>
            </a:r>
          </a:p>
        </p:txBody>
      </p:sp>
      <p:sp>
        <p:nvSpPr>
          <p:cNvPr id="4" name="Rectangle 3"/>
          <p:cNvSpPr/>
          <p:nvPr/>
        </p:nvSpPr>
        <p:spPr>
          <a:xfrm>
            <a:off x="731520" y="1160780"/>
            <a:ext cx="91440" cy="91440"/>
          </a:xfrm>
          <a:prstGeom prst="rect">
            <a:avLst/>
          </a:prstGeom>
          <a:solidFill>
            <a:srgbClr val="7A3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097280"/>
            <a:ext cx="9144000" cy="457200"/>
          </a:xfrm>
          <a:prstGeom prst="rect">
            <a:avLst/>
          </a:prstGeom>
          <a:noFill/>
        </p:spPr>
        <p:txBody>
          <a:bodyPr wrap="square">
            <a:spAutoFit/>
          </a:bodyPr>
          <a:lstStyle/>
          <a:p>
            <a:pPr algn="l">
              <a:spcBef>
                <a:spcPts val="0"/>
              </a:spcBef>
              <a:spcAft>
                <a:spcPts val="400"/>
              </a:spcAft>
            </a:pPr>
            <a:r>
              <a:rPr sz="1400" b="0" i="0">
                <a:solidFill>
                  <a:srgbClr val="1C1A16"/>
                </a:solidFill>
                <a:latin typeface="Segoe UI"/>
              </a:rPr>
              <a:t>Current dose ≥ 90 MME/day without documented pain management specialist involvement</a:t>
            </a:r>
            <a:r>
              <a:rPr sz="1000" b="1" i="0">
                <a:solidFill>
                  <a:srgbClr val="1A5C3A"/>
                </a:solidFill>
                <a:latin typeface="Segoe UI"/>
              </a:rPr>
              <a:t>  F5</a:t>
            </a:r>
          </a:p>
        </p:txBody>
      </p:sp>
      <p:sp>
        <p:nvSpPr>
          <p:cNvPr id="6" name="Rectangle 5"/>
          <p:cNvSpPr/>
          <p:nvPr/>
        </p:nvSpPr>
        <p:spPr>
          <a:xfrm>
            <a:off x="731520" y="1663700"/>
            <a:ext cx="91440" cy="91440"/>
          </a:xfrm>
          <a:prstGeom prst="rect">
            <a:avLst/>
          </a:prstGeom>
          <a:solidFill>
            <a:srgbClr val="7A3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600200"/>
            <a:ext cx="9144000" cy="457200"/>
          </a:xfrm>
          <a:prstGeom prst="rect">
            <a:avLst/>
          </a:prstGeom>
          <a:noFill/>
        </p:spPr>
        <p:txBody>
          <a:bodyPr wrap="square">
            <a:spAutoFit/>
          </a:bodyPr>
          <a:lstStyle/>
          <a:p>
            <a:pPr algn="l">
              <a:spcBef>
                <a:spcPts val="0"/>
              </a:spcBef>
              <a:spcAft>
                <a:spcPts val="400"/>
              </a:spcAft>
            </a:pPr>
            <a:r>
              <a:rPr sz="1400" b="0" i="0">
                <a:solidFill>
                  <a:srgbClr val="1C1A16"/>
                </a:solidFill>
                <a:latin typeface="Segoe UI"/>
              </a:rPr>
              <a:t>Concurrent benzodiazepine prescription — any dose, any indication</a:t>
            </a:r>
            <a:r>
              <a:rPr sz="1000" b="1" i="0">
                <a:solidFill>
                  <a:srgbClr val="1A5C3A"/>
                </a:solidFill>
                <a:latin typeface="Segoe UI"/>
              </a:rPr>
              <a:t>  F6</a:t>
            </a:r>
          </a:p>
        </p:txBody>
      </p:sp>
      <p:sp>
        <p:nvSpPr>
          <p:cNvPr id="8" name="Rectangle 7"/>
          <p:cNvSpPr/>
          <p:nvPr/>
        </p:nvSpPr>
        <p:spPr>
          <a:xfrm>
            <a:off x="731520" y="2166620"/>
            <a:ext cx="91440" cy="91440"/>
          </a:xfrm>
          <a:prstGeom prst="rect">
            <a:avLst/>
          </a:prstGeom>
          <a:solidFill>
            <a:srgbClr val="7A3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103120"/>
            <a:ext cx="9144000" cy="457200"/>
          </a:xfrm>
          <a:prstGeom prst="rect">
            <a:avLst/>
          </a:prstGeom>
          <a:noFill/>
        </p:spPr>
        <p:txBody>
          <a:bodyPr wrap="square">
            <a:spAutoFit/>
          </a:bodyPr>
          <a:lstStyle/>
          <a:p>
            <a:pPr algn="l">
              <a:spcBef>
                <a:spcPts val="0"/>
              </a:spcBef>
              <a:spcAft>
                <a:spcPts val="400"/>
              </a:spcAft>
            </a:pPr>
            <a:r>
              <a:rPr sz="1400" b="0" i="0">
                <a:solidFill>
                  <a:srgbClr val="1C1A16"/>
                </a:solidFill>
                <a:latin typeface="Segoe UI"/>
              </a:rPr>
              <a:t>UDS positive for non-prescribed controlled substance, or negative for prescribed opiate</a:t>
            </a:r>
            <a:r>
              <a:rPr sz="1000" b="1" i="0">
                <a:solidFill>
                  <a:srgbClr val="1A5C3A"/>
                </a:solidFill>
                <a:latin typeface="Segoe UI"/>
              </a:rPr>
              <a:t>  F7</a:t>
            </a:r>
          </a:p>
        </p:txBody>
      </p:sp>
      <p:sp>
        <p:nvSpPr>
          <p:cNvPr id="10" name="Rectangle 9"/>
          <p:cNvSpPr/>
          <p:nvPr/>
        </p:nvSpPr>
        <p:spPr>
          <a:xfrm>
            <a:off x="731520" y="2669540"/>
            <a:ext cx="91440" cy="91440"/>
          </a:xfrm>
          <a:prstGeom prst="rect">
            <a:avLst/>
          </a:prstGeom>
          <a:solidFill>
            <a:srgbClr val="7A3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2606040"/>
            <a:ext cx="9144000" cy="457200"/>
          </a:xfrm>
          <a:prstGeom prst="rect">
            <a:avLst/>
          </a:prstGeom>
          <a:noFill/>
        </p:spPr>
        <p:txBody>
          <a:bodyPr wrap="square">
            <a:spAutoFit/>
          </a:bodyPr>
          <a:lstStyle/>
          <a:p>
            <a:pPr algn="l">
              <a:spcBef>
                <a:spcPts val="0"/>
              </a:spcBef>
              <a:spcAft>
                <a:spcPts val="400"/>
              </a:spcAft>
            </a:pPr>
            <a:r>
              <a:rPr sz="1400" b="0" i="0">
                <a:solidFill>
                  <a:srgbClr val="1C1A16"/>
                </a:solidFill>
                <a:latin typeface="Segoe UI"/>
              </a:rPr>
              <a:t>PDMP shows multiple prescribers, multiple pharmacies, or overlapping fills</a:t>
            </a:r>
            <a:r>
              <a:rPr sz="1000" b="1" i="0">
                <a:solidFill>
                  <a:srgbClr val="1A5C3A"/>
                </a:solidFill>
                <a:latin typeface="Segoe UI"/>
              </a:rPr>
              <a:t>  F8</a:t>
            </a:r>
          </a:p>
        </p:txBody>
      </p:sp>
      <p:sp>
        <p:nvSpPr>
          <p:cNvPr id="12" name="Rectangle 11"/>
          <p:cNvSpPr/>
          <p:nvPr/>
        </p:nvSpPr>
        <p:spPr>
          <a:xfrm>
            <a:off x="731520" y="3172460"/>
            <a:ext cx="91440" cy="91440"/>
          </a:xfrm>
          <a:prstGeom prst="rect">
            <a:avLst/>
          </a:prstGeom>
          <a:solidFill>
            <a:srgbClr val="7A3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3108960"/>
            <a:ext cx="9144000" cy="457200"/>
          </a:xfrm>
          <a:prstGeom prst="rect">
            <a:avLst/>
          </a:prstGeom>
          <a:noFill/>
        </p:spPr>
        <p:txBody>
          <a:bodyPr wrap="square">
            <a:spAutoFit/>
          </a:bodyPr>
          <a:lstStyle/>
          <a:p>
            <a:pPr algn="l">
              <a:spcBef>
                <a:spcPts val="0"/>
              </a:spcBef>
              <a:spcAft>
                <a:spcPts val="400"/>
              </a:spcAft>
            </a:pPr>
            <a:r>
              <a:rPr sz="1400" b="0" i="0">
                <a:solidFill>
                  <a:srgbClr val="1C1A16"/>
                </a:solidFill>
                <a:latin typeface="Segoe UI"/>
              </a:rPr>
              <a:t>Repeated early refill requests, lost medications, or escalating contact between visits</a:t>
            </a:r>
            <a:r>
              <a:rPr sz="1000" b="1" i="0">
                <a:solidFill>
                  <a:srgbClr val="1A5C3A"/>
                </a:solidFill>
                <a:latin typeface="Segoe UI"/>
              </a:rPr>
              <a:t>  F9</a:t>
            </a:r>
          </a:p>
        </p:txBody>
      </p:sp>
      <p:sp>
        <p:nvSpPr>
          <p:cNvPr id="14" name="Rectangle 13"/>
          <p:cNvSpPr/>
          <p:nvPr/>
        </p:nvSpPr>
        <p:spPr>
          <a:xfrm>
            <a:off x="731520" y="3675380"/>
            <a:ext cx="91440" cy="91440"/>
          </a:xfrm>
          <a:prstGeom prst="rect">
            <a:avLst/>
          </a:prstGeom>
          <a:solidFill>
            <a:srgbClr val="7A3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05840" y="3611880"/>
            <a:ext cx="9144000" cy="457200"/>
          </a:xfrm>
          <a:prstGeom prst="rect">
            <a:avLst/>
          </a:prstGeom>
          <a:noFill/>
        </p:spPr>
        <p:txBody>
          <a:bodyPr wrap="square">
            <a:spAutoFit/>
          </a:bodyPr>
          <a:lstStyle/>
          <a:p>
            <a:pPr algn="l">
              <a:spcBef>
                <a:spcPts val="0"/>
              </a:spcBef>
              <a:spcAft>
                <a:spcPts val="400"/>
              </a:spcAft>
            </a:pPr>
            <a:r>
              <a:rPr sz="1400" b="0" i="0">
                <a:solidFill>
                  <a:srgbClr val="1C1A16"/>
                </a:solidFill>
                <a:latin typeface="Segoe UI"/>
              </a:rPr>
              <a:t>Any clinical concern for opioid use disorder — consider MOUD rather than taper or discontinuation</a:t>
            </a:r>
            <a:r>
              <a:rPr sz="1000" b="1" i="0">
                <a:solidFill>
                  <a:srgbClr val="1A5C3A"/>
                </a:solidFill>
                <a:latin typeface="Segoe UI"/>
              </a:rPr>
              <a:t>  F10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DFCF9"/>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1A5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731520" cy="320040"/>
          </a:xfrm>
          <a:prstGeom prst="rect">
            <a:avLst/>
          </a:prstGeom>
          <a:noFill/>
        </p:spPr>
        <p:txBody>
          <a:bodyPr wrap="square">
            <a:spAutoFit/>
          </a:bodyPr>
          <a:lstStyle/>
          <a:p>
            <a:pPr algn="ctr">
              <a:spcBef>
                <a:spcPts val="0"/>
              </a:spcBef>
              <a:spcAft>
                <a:spcPts val="400"/>
              </a:spcAft>
            </a:pPr>
            <a:r>
              <a:rPr sz="1400" b="1" i="0">
                <a:solidFill>
                  <a:srgbClr val="1A5C3A"/>
                </a:solidFill>
                <a:latin typeface="Segoe UI"/>
              </a:rPr>
              <a:t>F1</a:t>
            </a:r>
          </a:p>
        </p:txBody>
      </p:sp>
      <p:sp>
        <p:nvSpPr>
          <p:cNvPr id="4" name="Rectangle 3"/>
          <p:cNvSpPr/>
          <p:nvPr/>
        </p:nvSpPr>
        <p:spPr>
          <a:xfrm>
            <a:off x="502920" y="118872"/>
            <a:ext cx="594360" cy="3200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280160" y="109728"/>
            <a:ext cx="9144000" cy="274320"/>
          </a:xfrm>
          <a:prstGeom prst="rect">
            <a:avLst/>
          </a:prstGeom>
          <a:noFill/>
        </p:spPr>
        <p:txBody>
          <a:bodyPr wrap="square">
            <a:spAutoFit/>
          </a:bodyPr>
          <a:lstStyle/>
          <a:p>
            <a:pPr algn="l">
              <a:spcBef>
                <a:spcPts val="0"/>
              </a:spcBef>
              <a:spcAft>
                <a:spcPts val="400"/>
              </a:spcAft>
            </a:pPr>
            <a:r>
              <a:rPr sz="1000" b="0" i="0">
                <a:solidFill>
                  <a:srgbClr val="CCDDCC"/>
                </a:solidFill>
                <a:latin typeface="Segoe UI"/>
              </a:rPr>
              <a:t>PDMP REVIEW</a:t>
            </a:r>
          </a:p>
        </p:txBody>
      </p:sp>
      <p:sp>
        <p:nvSpPr>
          <p:cNvPr id="6" name="TextBox 5"/>
          <p:cNvSpPr txBox="1"/>
          <p:nvPr/>
        </p:nvSpPr>
        <p:spPr>
          <a:xfrm>
            <a:off x="1280160" y="384048"/>
            <a:ext cx="9144000" cy="457200"/>
          </a:xfrm>
          <a:prstGeom prst="rect">
            <a:avLst/>
          </a:prstGeom>
          <a:noFill/>
        </p:spPr>
        <p:txBody>
          <a:bodyPr wrap="square">
            <a:spAutoFit/>
          </a:bodyPr>
          <a:lstStyle/>
          <a:p>
            <a:pPr algn="l">
              <a:spcBef>
                <a:spcPts val="0"/>
              </a:spcBef>
              <a:spcAft>
                <a:spcPts val="400"/>
              </a:spcAft>
            </a:pPr>
            <a:r>
              <a:rPr sz="1800" b="1" i="0">
                <a:solidFill>
                  <a:srgbClr val="FFFFFF"/>
                </a:solidFill>
                <a:latin typeface="Segoe UI"/>
              </a:rPr>
              <a:t>What am I looking for in the PDMP for opiate patients?</a:t>
            </a:r>
          </a:p>
        </p:txBody>
      </p:sp>
      <p:sp>
        <p:nvSpPr>
          <p:cNvPr id="7" name="TextBox 6"/>
          <p:cNvSpPr txBox="1"/>
          <p:nvPr/>
        </p:nvSpPr>
        <p:spPr>
          <a:xfrm>
            <a:off x="548640" y="1188720"/>
            <a:ext cx="10515600" cy="457200"/>
          </a:xfrm>
          <a:prstGeom prst="rect">
            <a:avLst/>
          </a:prstGeom>
          <a:noFill/>
        </p:spPr>
        <p:txBody>
          <a:bodyPr wrap="square">
            <a:spAutoFit/>
          </a:bodyPr>
          <a:lstStyle/>
          <a:p>
            <a:pPr algn="l">
              <a:spcBef>
                <a:spcPts val="0"/>
              </a:spcBef>
              <a:spcAft>
                <a:spcPts val="200"/>
              </a:spcAft>
            </a:pPr>
            <a:r>
              <a:rPr sz="1400" b="1" i="0">
                <a:solidFill>
                  <a:srgbClr val="1C1A16"/>
                </a:solidFill>
                <a:latin typeface="Segoe UI"/>
              </a:rPr>
              <a:t>How is the opiate PDMP review different from stimulants?</a:t>
            </a:r>
          </a:p>
        </p:txBody>
      </p:sp>
      <p:sp>
        <p:nvSpPr>
          <p:cNvPr id="8" name="TextBox 7"/>
          <p:cNvSpPr txBox="1"/>
          <p:nvPr/>
        </p:nvSpPr>
        <p:spPr>
          <a:xfrm>
            <a:off x="731520" y="1600200"/>
            <a:ext cx="10058400" cy="2743200"/>
          </a:xfrm>
          <a:prstGeom prst="rect">
            <a:avLst/>
          </a:prstGeom>
          <a:noFill/>
        </p:spPr>
        <p:txBody>
          <a:bodyPr wrap="square">
            <a:spAutoFit/>
          </a:bodyPr>
          <a:lstStyle/>
          <a:p>
            <a:pPr algn="l">
              <a:spcBef>
                <a:spcPts val="0"/>
              </a:spcBef>
              <a:spcAft>
                <a:spcPts val="600"/>
              </a:spcAft>
            </a:pPr>
            <a:r>
              <a:rPr sz="1200" b="0" i="0">
                <a:solidFill>
                  <a:srgbClr val="6B6560"/>
                </a:solidFill>
                <a:latin typeface="Segoe UI"/>
              </a:rPr>
              <a:t>The stakes are higher and the patterns are more specific. For opiates you are looking for: overlapping fills from any prescriber (suggests double-doctoring), concurrent benzodiazepine prescriptions (this is your most important safety flag — the combination dramatically increases overdose mortality), fill frequency relative to days supply (filling a 30-day supply every 20 days is a pattern), and cash-pay fills which bypass insurance tracking and may not appear on PDMP in all states.</a:t>
            </a:r>
          </a:p>
          <a:p>
            <a:pPr algn="l">
              <a:spcBef>
                <a:spcPts val="0"/>
              </a:spcBef>
              <a:spcAft>
                <a:spcPts val="600"/>
              </a:spcAft>
            </a:pPr>
            <a:r>
              <a:rPr sz="1200" b="0" i="0">
                <a:solidFill>
                  <a:srgbClr val="6B6560"/>
                </a:solidFill>
                <a:latin typeface="Segoe UI"/>
              </a:rPr>
              <a:t>New York requires PDMP review prior to every opiate prescription — not just at intake.</a:t>
            </a:r>
          </a:p>
        </p:txBody>
      </p:sp>
      <p:sp>
        <p:nvSpPr>
          <p:cNvPr id="9" name="Rectangle 8"/>
          <p:cNvSpPr/>
          <p:nvPr/>
        </p:nvSpPr>
        <p:spPr>
          <a:xfrm>
            <a:off x="594360" y="1600200"/>
            <a:ext cx="31750" cy="9144"/>
          </a:xfrm>
          <a:prstGeom prst="rect">
            <a:avLst/>
          </a:prstGeom>
          <a:solidFill>
            <a:srgbClr val="EA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 y="3566160"/>
            <a:ext cx="9601200" cy="9525"/>
          </a:xfrm>
          <a:prstGeom prst="rect">
            <a:avLst/>
          </a:prstGeom>
          <a:solidFill>
            <a:srgbClr val="D6D0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3703320"/>
            <a:ext cx="10515600" cy="457200"/>
          </a:xfrm>
          <a:prstGeom prst="rect">
            <a:avLst/>
          </a:prstGeom>
          <a:noFill/>
        </p:spPr>
        <p:txBody>
          <a:bodyPr wrap="square">
            <a:spAutoFit/>
          </a:bodyPr>
          <a:lstStyle/>
          <a:p>
            <a:pPr algn="l">
              <a:spcBef>
                <a:spcPts val="0"/>
              </a:spcBef>
              <a:spcAft>
                <a:spcPts val="200"/>
              </a:spcAft>
            </a:pPr>
            <a:r>
              <a:rPr sz="1400" b="1" i="0">
                <a:solidFill>
                  <a:srgbClr val="1C1A16"/>
                </a:solidFill>
                <a:latin typeface="Segoe UI"/>
              </a:rPr>
              <a:t>I see a second prescriber in the PDMP. Is that automatically a problem?</a:t>
            </a:r>
          </a:p>
        </p:txBody>
      </p:sp>
      <p:sp>
        <p:nvSpPr>
          <p:cNvPr id="12" name="TextBox 11"/>
          <p:cNvSpPr txBox="1"/>
          <p:nvPr/>
        </p:nvSpPr>
        <p:spPr>
          <a:xfrm>
            <a:off x="731520" y="4114800"/>
            <a:ext cx="10058400" cy="2743200"/>
          </a:xfrm>
          <a:prstGeom prst="rect">
            <a:avLst/>
          </a:prstGeom>
          <a:noFill/>
        </p:spPr>
        <p:txBody>
          <a:bodyPr wrap="square">
            <a:spAutoFit/>
          </a:bodyPr>
          <a:lstStyle/>
          <a:p>
            <a:pPr algn="l">
              <a:spcBef>
                <a:spcPts val="0"/>
              </a:spcBef>
              <a:spcAft>
                <a:spcPts val="600"/>
              </a:spcAft>
            </a:pPr>
            <a:r>
              <a:rPr sz="1200" b="0" i="0">
                <a:solidFill>
                  <a:srgbClr val="6B6560"/>
                </a:solidFill>
                <a:latin typeface="Segoe UI"/>
              </a:rPr>
              <a:t>Not automatically — but it requires an explanation you can document. A patient seeing both a PCP and a pain management specialist may have legitimate dual prescribing if it is coordinated. An ER prescription for an acute injury is different from a pattern of monthly fills from two separate primary care offices.</a:t>
            </a:r>
          </a:p>
          <a:p>
            <a:pPr algn="l">
              <a:spcBef>
                <a:spcPts val="0"/>
              </a:spcBef>
              <a:spcAft>
                <a:spcPts val="600"/>
              </a:spcAft>
            </a:pPr>
            <a:r>
              <a:rPr sz="1200" b="0" i="0">
                <a:solidFill>
                  <a:srgbClr val="6B6560"/>
                </a:solidFill>
                <a:latin typeface="Segoe UI"/>
              </a:rPr>
              <a:t>Ask the patient directly, document what they tell you, and contact the other prescriber if the answer is unclear.</a:t>
            </a:r>
          </a:p>
        </p:txBody>
      </p:sp>
      <p:sp>
        <p:nvSpPr>
          <p:cNvPr id="13" name="Rectangle 12"/>
          <p:cNvSpPr/>
          <p:nvPr/>
        </p:nvSpPr>
        <p:spPr>
          <a:xfrm>
            <a:off x="594360" y="4114800"/>
            <a:ext cx="31750" cy="9144"/>
          </a:xfrm>
          <a:prstGeom prst="rect">
            <a:avLst/>
          </a:prstGeom>
          <a:solidFill>
            <a:srgbClr val="EA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31520" y="5623560"/>
            <a:ext cx="9601200" cy="9525"/>
          </a:xfrm>
          <a:prstGeom prst="rect">
            <a:avLst/>
          </a:prstGeom>
          <a:solidFill>
            <a:srgbClr val="D6D0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8640" y="5760720"/>
            <a:ext cx="10515600" cy="457200"/>
          </a:xfrm>
          <a:prstGeom prst="rect">
            <a:avLst/>
          </a:prstGeom>
          <a:noFill/>
        </p:spPr>
        <p:txBody>
          <a:bodyPr wrap="square">
            <a:spAutoFit/>
          </a:bodyPr>
          <a:lstStyle/>
          <a:p>
            <a:pPr algn="l">
              <a:spcBef>
                <a:spcPts val="0"/>
              </a:spcBef>
              <a:spcAft>
                <a:spcPts val="200"/>
              </a:spcAft>
            </a:pPr>
            <a:r>
              <a:rPr sz="1400" b="1" i="0">
                <a:solidFill>
                  <a:srgbClr val="1C1A16"/>
                </a:solidFill>
                <a:latin typeface="Segoe UI"/>
              </a:rPr>
              <a:t>What do I do if I find a concurrent benzo prescription?</a:t>
            </a:r>
          </a:p>
        </p:txBody>
      </p:sp>
      <p:sp>
        <p:nvSpPr>
          <p:cNvPr id="16" name="TextBox 15"/>
          <p:cNvSpPr txBox="1"/>
          <p:nvPr/>
        </p:nvSpPr>
        <p:spPr>
          <a:xfrm>
            <a:off x="731520" y="6172200"/>
            <a:ext cx="10058400" cy="2743200"/>
          </a:xfrm>
          <a:prstGeom prst="rect">
            <a:avLst/>
          </a:prstGeom>
          <a:noFill/>
        </p:spPr>
        <p:txBody>
          <a:bodyPr wrap="square">
            <a:spAutoFit/>
          </a:bodyPr>
          <a:lstStyle/>
          <a:p>
            <a:pPr algn="l">
              <a:spcBef>
                <a:spcPts val="0"/>
              </a:spcBef>
              <a:spcAft>
                <a:spcPts val="600"/>
              </a:spcAft>
            </a:pPr>
            <a:r>
              <a:rPr sz="1200" b="0" i="0">
                <a:solidFill>
                  <a:srgbClr val="6B6560"/>
                </a:solidFill>
                <a:latin typeface="Segoe UI"/>
              </a:rPr>
              <a:t>Do not prescribe the opiate at this visit without a safety plan. The opiate-benzodiazepine combination is the leading driver of prescription overdose mortality. This is not a reason to cut the patient off — it is a reason to have a direct conversation, understand who is managing the benzo, and develop a coordinated plan.</a:t>
            </a:r>
          </a:p>
          <a:p>
            <a:pPr algn="l">
              <a:spcBef>
                <a:spcPts val="0"/>
              </a:spcBef>
              <a:spcAft>
                <a:spcPts val="600"/>
              </a:spcAft>
            </a:pPr>
            <a:r>
              <a:rPr sz="1200" b="0" i="0">
                <a:solidFill>
                  <a:srgbClr val="6B6560"/>
                </a:solidFill>
                <a:latin typeface="Segoe UI"/>
              </a:rPr>
              <a:t>See the escalation FAQ for next steps.</a:t>
            </a:r>
          </a:p>
        </p:txBody>
      </p:sp>
      <p:sp>
        <p:nvSpPr>
          <p:cNvPr id="17" name="Rectangle 16"/>
          <p:cNvSpPr/>
          <p:nvPr/>
        </p:nvSpPr>
        <p:spPr>
          <a:xfrm>
            <a:off x="594360" y="6172200"/>
            <a:ext cx="31750" cy="9144"/>
          </a:xfrm>
          <a:prstGeom prst="rect">
            <a:avLst/>
          </a:prstGeom>
          <a:solidFill>
            <a:srgbClr val="EA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DFCF9"/>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1A5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731520" cy="320040"/>
          </a:xfrm>
          <a:prstGeom prst="rect">
            <a:avLst/>
          </a:prstGeom>
          <a:noFill/>
        </p:spPr>
        <p:txBody>
          <a:bodyPr wrap="square">
            <a:spAutoFit/>
          </a:bodyPr>
          <a:lstStyle/>
          <a:p>
            <a:pPr algn="ctr">
              <a:spcBef>
                <a:spcPts val="0"/>
              </a:spcBef>
              <a:spcAft>
                <a:spcPts val="400"/>
              </a:spcAft>
            </a:pPr>
            <a:r>
              <a:rPr sz="1400" b="1" i="0">
                <a:solidFill>
                  <a:srgbClr val="1A5C3A"/>
                </a:solidFill>
                <a:latin typeface="Segoe UI"/>
              </a:rPr>
              <a:t>F2</a:t>
            </a:r>
          </a:p>
        </p:txBody>
      </p:sp>
      <p:sp>
        <p:nvSpPr>
          <p:cNvPr id="4" name="Rectangle 3"/>
          <p:cNvSpPr/>
          <p:nvPr/>
        </p:nvSpPr>
        <p:spPr>
          <a:xfrm>
            <a:off x="502920" y="118872"/>
            <a:ext cx="594360" cy="3200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280160" y="109728"/>
            <a:ext cx="9144000" cy="274320"/>
          </a:xfrm>
          <a:prstGeom prst="rect">
            <a:avLst/>
          </a:prstGeom>
          <a:noFill/>
        </p:spPr>
        <p:txBody>
          <a:bodyPr wrap="square">
            <a:spAutoFit/>
          </a:bodyPr>
          <a:lstStyle/>
          <a:p>
            <a:pPr algn="l">
              <a:spcBef>
                <a:spcPts val="0"/>
              </a:spcBef>
              <a:spcAft>
                <a:spcPts val="400"/>
              </a:spcAft>
            </a:pPr>
            <a:r>
              <a:rPr sz="1000" b="0" i="0">
                <a:solidFill>
                  <a:srgbClr val="CCDDCC"/>
                </a:solidFill>
                <a:latin typeface="Segoe UI"/>
              </a:rPr>
              <a:t>CONTROLLED SUBSTANCE AGREEMENT</a:t>
            </a:r>
          </a:p>
        </p:txBody>
      </p:sp>
      <p:sp>
        <p:nvSpPr>
          <p:cNvPr id="6" name="TextBox 5"/>
          <p:cNvSpPr txBox="1"/>
          <p:nvPr/>
        </p:nvSpPr>
        <p:spPr>
          <a:xfrm>
            <a:off x="1280160" y="384048"/>
            <a:ext cx="9144000" cy="457200"/>
          </a:xfrm>
          <a:prstGeom prst="rect">
            <a:avLst/>
          </a:prstGeom>
          <a:noFill/>
        </p:spPr>
        <p:txBody>
          <a:bodyPr wrap="square">
            <a:spAutoFit/>
          </a:bodyPr>
          <a:lstStyle/>
          <a:p>
            <a:pPr algn="l">
              <a:spcBef>
                <a:spcPts val="0"/>
              </a:spcBef>
              <a:spcAft>
                <a:spcPts val="400"/>
              </a:spcAft>
            </a:pPr>
            <a:r>
              <a:rPr sz="1800" b="1" i="0">
                <a:solidFill>
                  <a:srgbClr val="FFFFFF"/>
                </a:solidFill>
                <a:latin typeface="Segoe UI"/>
              </a:rPr>
              <a:t>The CS agreement — what it is and what it isn't</a:t>
            </a:r>
          </a:p>
        </p:txBody>
      </p:sp>
      <p:sp>
        <p:nvSpPr>
          <p:cNvPr id="7" name="TextBox 6"/>
          <p:cNvSpPr txBox="1"/>
          <p:nvPr/>
        </p:nvSpPr>
        <p:spPr>
          <a:xfrm>
            <a:off x="548640" y="1188720"/>
            <a:ext cx="10515600" cy="457200"/>
          </a:xfrm>
          <a:prstGeom prst="rect">
            <a:avLst/>
          </a:prstGeom>
          <a:noFill/>
        </p:spPr>
        <p:txBody>
          <a:bodyPr wrap="square">
            <a:spAutoFit/>
          </a:bodyPr>
          <a:lstStyle/>
          <a:p>
            <a:pPr algn="l">
              <a:spcBef>
                <a:spcPts val="0"/>
              </a:spcBef>
              <a:spcAft>
                <a:spcPts val="200"/>
              </a:spcAft>
            </a:pPr>
            <a:r>
              <a:rPr sz="1400" b="1" i="0">
                <a:solidFill>
                  <a:srgbClr val="1C1A16"/>
                </a:solidFill>
                <a:latin typeface="Segoe UI"/>
              </a:rPr>
              <a:t>Do I need a new agreement if the prior provider had one on file?</a:t>
            </a:r>
          </a:p>
        </p:txBody>
      </p:sp>
      <p:sp>
        <p:nvSpPr>
          <p:cNvPr id="8" name="TextBox 7"/>
          <p:cNvSpPr txBox="1"/>
          <p:nvPr/>
        </p:nvSpPr>
        <p:spPr>
          <a:xfrm>
            <a:off x="731520" y="1600200"/>
            <a:ext cx="10058400" cy="2743200"/>
          </a:xfrm>
          <a:prstGeom prst="rect">
            <a:avLst/>
          </a:prstGeom>
          <a:noFill/>
        </p:spPr>
        <p:txBody>
          <a:bodyPr wrap="square">
            <a:spAutoFit/>
          </a:bodyPr>
          <a:lstStyle/>
          <a:p>
            <a:pPr algn="l">
              <a:spcBef>
                <a:spcPts val="0"/>
              </a:spcBef>
              <a:spcAft>
                <a:spcPts val="600"/>
              </a:spcAft>
            </a:pPr>
            <a:r>
              <a:rPr sz="1200" b="0" i="0">
                <a:solidFill>
                  <a:srgbClr val="6B6560"/>
                </a:solidFill>
                <a:latin typeface="Segoe UI"/>
              </a:rPr>
              <a:t>Yes. When you become the prescriber of record, a new agreement should be completed. This is both a documentation standard and a clinical moment — reviewing the agreement with the patient at the first visit establishes expectations, gives you an opportunity to assess their understanding, and signals that this is a managed relationship, not an automatic continuation.</a:t>
            </a:r>
          </a:p>
        </p:txBody>
      </p:sp>
      <p:sp>
        <p:nvSpPr>
          <p:cNvPr id="9" name="Rectangle 8"/>
          <p:cNvSpPr/>
          <p:nvPr/>
        </p:nvSpPr>
        <p:spPr>
          <a:xfrm>
            <a:off x="594360" y="1600200"/>
            <a:ext cx="31750" cy="9144"/>
          </a:xfrm>
          <a:prstGeom prst="rect">
            <a:avLst/>
          </a:prstGeom>
          <a:solidFill>
            <a:srgbClr val="EA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 y="2880360"/>
            <a:ext cx="9601200" cy="9525"/>
          </a:xfrm>
          <a:prstGeom prst="rect">
            <a:avLst/>
          </a:prstGeom>
          <a:solidFill>
            <a:srgbClr val="D6D0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3017520"/>
            <a:ext cx="10515600" cy="457200"/>
          </a:xfrm>
          <a:prstGeom prst="rect">
            <a:avLst/>
          </a:prstGeom>
          <a:noFill/>
        </p:spPr>
        <p:txBody>
          <a:bodyPr wrap="square">
            <a:spAutoFit/>
          </a:bodyPr>
          <a:lstStyle/>
          <a:p>
            <a:pPr algn="l">
              <a:spcBef>
                <a:spcPts val="0"/>
              </a:spcBef>
              <a:spcAft>
                <a:spcPts val="200"/>
              </a:spcAft>
            </a:pPr>
            <a:r>
              <a:rPr sz="1400" b="1" i="0">
                <a:solidFill>
                  <a:srgbClr val="1C1A16"/>
                </a:solidFill>
                <a:latin typeface="Segoe UI"/>
              </a:rPr>
              <a:t>What should the agreement cover?</a:t>
            </a:r>
          </a:p>
        </p:txBody>
      </p:sp>
      <p:sp>
        <p:nvSpPr>
          <p:cNvPr id="12" name="TextBox 11"/>
          <p:cNvSpPr txBox="1"/>
          <p:nvPr/>
        </p:nvSpPr>
        <p:spPr>
          <a:xfrm>
            <a:off x="731520" y="3429000"/>
            <a:ext cx="10058400" cy="2743200"/>
          </a:xfrm>
          <a:prstGeom prst="rect">
            <a:avLst/>
          </a:prstGeom>
          <a:noFill/>
        </p:spPr>
        <p:txBody>
          <a:bodyPr wrap="square">
            <a:spAutoFit/>
          </a:bodyPr>
          <a:lstStyle/>
          <a:p>
            <a:pPr algn="l">
              <a:spcBef>
                <a:spcPts val="0"/>
              </a:spcBef>
              <a:spcAft>
                <a:spcPts val="600"/>
              </a:spcAft>
            </a:pPr>
            <a:r>
              <a:rPr sz="1200" b="0" i="0">
                <a:solidFill>
                  <a:srgbClr val="6B6560"/>
                </a:solidFill>
                <a:latin typeface="Segoe UI"/>
              </a:rPr>
              <a:t>At minimum: single prescriber and single pharmacy requirements, agreement to UDS monitoring, no early refills policy, no replacement for lost or stolen medications, expectations around dose changes (patient does not self-adjust), and acknowledgment that the goal of therapy is functional improvement, not pain elimination.</a:t>
            </a:r>
          </a:p>
          <a:p>
            <a:pPr algn="l">
              <a:spcBef>
                <a:spcPts val="0"/>
              </a:spcBef>
              <a:spcAft>
                <a:spcPts val="600"/>
              </a:spcAft>
            </a:pPr>
            <a:r>
              <a:rPr sz="1200" b="0" i="0">
                <a:solidFill>
                  <a:srgbClr val="6B6560"/>
                </a:solidFill>
                <a:latin typeface="Segoe UI"/>
              </a:rPr>
              <a:t>SmartPhrase </a:t>
            </a:r>
            <a:r>
              <a:rPr sz="1100" b="1" i="0">
                <a:solidFill>
                  <a:srgbClr val="6B6560"/>
                </a:solidFill>
                <a:latin typeface="Segoe UI"/>
              </a:rPr>
              <a:t>[.CSAGREE]</a:t>
            </a:r>
            <a:r>
              <a:rPr sz="1200" b="0" i="0">
                <a:solidFill>
                  <a:srgbClr val="6B6560"/>
                </a:solidFill>
                <a:latin typeface="Segoe UI"/>
              </a:rPr>
              <a:t> populates the standard institutional template.</a:t>
            </a:r>
          </a:p>
        </p:txBody>
      </p:sp>
      <p:sp>
        <p:nvSpPr>
          <p:cNvPr id="13" name="Rectangle 12"/>
          <p:cNvSpPr/>
          <p:nvPr/>
        </p:nvSpPr>
        <p:spPr>
          <a:xfrm>
            <a:off x="594360" y="3429000"/>
            <a:ext cx="31750" cy="9144"/>
          </a:xfrm>
          <a:prstGeom prst="rect">
            <a:avLst/>
          </a:prstGeom>
          <a:solidFill>
            <a:srgbClr val="EA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31520" y="4937760"/>
            <a:ext cx="9601200" cy="9525"/>
          </a:xfrm>
          <a:prstGeom prst="rect">
            <a:avLst/>
          </a:prstGeom>
          <a:solidFill>
            <a:srgbClr val="D6D0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8640" y="5074920"/>
            <a:ext cx="10515600" cy="457200"/>
          </a:xfrm>
          <a:prstGeom prst="rect">
            <a:avLst/>
          </a:prstGeom>
          <a:noFill/>
        </p:spPr>
        <p:txBody>
          <a:bodyPr wrap="square">
            <a:spAutoFit/>
          </a:bodyPr>
          <a:lstStyle/>
          <a:p>
            <a:pPr algn="l">
              <a:spcBef>
                <a:spcPts val="0"/>
              </a:spcBef>
              <a:spcAft>
                <a:spcPts val="200"/>
              </a:spcAft>
            </a:pPr>
            <a:r>
              <a:rPr sz="1400" b="1" i="0">
                <a:solidFill>
                  <a:srgbClr val="1C1A16"/>
                </a:solidFill>
                <a:latin typeface="Segoe UI"/>
              </a:rPr>
              <a:t>The patient refuses to sign. What do I do?</a:t>
            </a:r>
          </a:p>
        </p:txBody>
      </p:sp>
      <p:sp>
        <p:nvSpPr>
          <p:cNvPr id="16" name="TextBox 15"/>
          <p:cNvSpPr txBox="1"/>
          <p:nvPr/>
        </p:nvSpPr>
        <p:spPr>
          <a:xfrm>
            <a:off x="731520" y="5486400"/>
            <a:ext cx="10058400" cy="2743200"/>
          </a:xfrm>
          <a:prstGeom prst="rect">
            <a:avLst/>
          </a:prstGeom>
          <a:noFill/>
        </p:spPr>
        <p:txBody>
          <a:bodyPr wrap="square">
            <a:spAutoFit/>
          </a:bodyPr>
          <a:lstStyle/>
          <a:p>
            <a:pPr algn="l">
              <a:spcBef>
                <a:spcPts val="0"/>
              </a:spcBef>
              <a:spcAft>
                <a:spcPts val="600"/>
              </a:spcAft>
            </a:pPr>
            <a:r>
              <a:rPr sz="1200" b="0" i="0">
                <a:solidFill>
                  <a:srgbClr val="6B6560"/>
                </a:solidFill>
                <a:latin typeface="Segoe UI"/>
              </a:rPr>
              <a:t>A patient who refuses to sign a CS agreement is communicating something worth understanding before you respond. Ask why — occasionally there is a literacy or language barrier, or a prior negative experience with how the agreement was presented.</a:t>
            </a:r>
          </a:p>
          <a:p>
            <a:pPr algn="l">
              <a:spcBef>
                <a:spcPts val="0"/>
              </a:spcBef>
              <a:spcAft>
                <a:spcPts val="600"/>
              </a:spcAft>
            </a:pPr>
            <a:r>
              <a:rPr sz="1200" b="0" i="0">
                <a:solidFill>
                  <a:srgbClr val="6B6560"/>
                </a:solidFill>
                <a:latin typeface="Segoe UI"/>
              </a:rPr>
              <a:t>If refusal is categorical and the patient cannot articulate a reason, document the refusal and the conversation. You are not obligated to prescribe without a signed agreement, and the institutional framework supports that position.</a:t>
            </a:r>
          </a:p>
        </p:txBody>
      </p:sp>
      <p:sp>
        <p:nvSpPr>
          <p:cNvPr id="17" name="Rectangle 16"/>
          <p:cNvSpPr/>
          <p:nvPr/>
        </p:nvSpPr>
        <p:spPr>
          <a:xfrm>
            <a:off x="594360" y="5486400"/>
            <a:ext cx="31750" cy="9144"/>
          </a:xfrm>
          <a:prstGeom prst="rect">
            <a:avLst/>
          </a:prstGeom>
          <a:solidFill>
            <a:srgbClr val="EA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DFCF9"/>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1A5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731520" cy="320040"/>
          </a:xfrm>
          <a:prstGeom prst="rect">
            <a:avLst/>
          </a:prstGeom>
          <a:noFill/>
        </p:spPr>
        <p:txBody>
          <a:bodyPr wrap="square">
            <a:spAutoFit/>
          </a:bodyPr>
          <a:lstStyle/>
          <a:p>
            <a:pPr algn="ctr">
              <a:spcBef>
                <a:spcPts val="0"/>
              </a:spcBef>
              <a:spcAft>
                <a:spcPts val="400"/>
              </a:spcAft>
            </a:pPr>
            <a:r>
              <a:rPr sz="1400" b="1" i="0">
                <a:solidFill>
                  <a:srgbClr val="1A5C3A"/>
                </a:solidFill>
                <a:latin typeface="Segoe UI"/>
              </a:rPr>
              <a:t>F3</a:t>
            </a:r>
          </a:p>
        </p:txBody>
      </p:sp>
      <p:sp>
        <p:nvSpPr>
          <p:cNvPr id="4" name="Rectangle 3"/>
          <p:cNvSpPr/>
          <p:nvPr/>
        </p:nvSpPr>
        <p:spPr>
          <a:xfrm>
            <a:off x="502920" y="118872"/>
            <a:ext cx="594360" cy="3200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280160" y="109728"/>
            <a:ext cx="9144000" cy="274320"/>
          </a:xfrm>
          <a:prstGeom prst="rect">
            <a:avLst/>
          </a:prstGeom>
          <a:noFill/>
        </p:spPr>
        <p:txBody>
          <a:bodyPr wrap="square">
            <a:spAutoFit/>
          </a:bodyPr>
          <a:lstStyle/>
          <a:p>
            <a:pPr algn="l">
              <a:spcBef>
                <a:spcPts val="0"/>
              </a:spcBef>
              <a:spcAft>
                <a:spcPts val="400"/>
              </a:spcAft>
            </a:pPr>
            <a:r>
              <a:rPr sz="1000" b="0" i="0">
                <a:solidFill>
                  <a:srgbClr val="CCDDCC"/>
                </a:solidFill>
                <a:latin typeface="Segoe UI"/>
              </a:rPr>
              <a:t>URINE DRUG SCREEN</a:t>
            </a:r>
          </a:p>
        </p:txBody>
      </p:sp>
      <p:sp>
        <p:nvSpPr>
          <p:cNvPr id="6" name="TextBox 5"/>
          <p:cNvSpPr txBox="1"/>
          <p:nvPr/>
        </p:nvSpPr>
        <p:spPr>
          <a:xfrm>
            <a:off x="1280160" y="384048"/>
            <a:ext cx="9144000" cy="457200"/>
          </a:xfrm>
          <a:prstGeom prst="rect">
            <a:avLst/>
          </a:prstGeom>
          <a:noFill/>
        </p:spPr>
        <p:txBody>
          <a:bodyPr wrap="square">
            <a:spAutoFit/>
          </a:bodyPr>
          <a:lstStyle/>
          <a:p>
            <a:pPr algn="l">
              <a:spcBef>
                <a:spcPts val="0"/>
              </a:spcBef>
              <a:spcAft>
                <a:spcPts val="400"/>
              </a:spcAft>
            </a:pPr>
            <a:r>
              <a:rPr sz="1800" b="1" i="0">
                <a:solidFill>
                  <a:srgbClr val="FFFFFF"/>
                </a:solidFill>
                <a:latin typeface="Segoe UI"/>
              </a:rPr>
              <a:t>UDS at intake — interpreting and acting on results</a:t>
            </a:r>
          </a:p>
        </p:txBody>
      </p:sp>
      <p:sp>
        <p:nvSpPr>
          <p:cNvPr id="7" name="TextBox 6"/>
          <p:cNvSpPr txBox="1"/>
          <p:nvPr/>
        </p:nvSpPr>
        <p:spPr>
          <a:xfrm>
            <a:off x="548640" y="1188720"/>
            <a:ext cx="10515600" cy="457200"/>
          </a:xfrm>
          <a:prstGeom prst="rect">
            <a:avLst/>
          </a:prstGeom>
          <a:noFill/>
        </p:spPr>
        <p:txBody>
          <a:bodyPr wrap="square">
            <a:spAutoFit/>
          </a:bodyPr>
          <a:lstStyle/>
          <a:p>
            <a:pPr algn="l">
              <a:spcBef>
                <a:spcPts val="0"/>
              </a:spcBef>
              <a:spcAft>
                <a:spcPts val="200"/>
              </a:spcAft>
            </a:pPr>
            <a:r>
              <a:rPr sz="1400" b="1" i="0">
                <a:solidFill>
                  <a:srgbClr val="1C1A16"/>
                </a:solidFill>
                <a:latin typeface="Segoe UI"/>
              </a:rPr>
              <a:t>What is the difference between a screening UDS and a confirmatory test?</a:t>
            </a:r>
          </a:p>
        </p:txBody>
      </p:sp>
      <p:sp>
        <p:nvSpPr>
          <p:cNvPr id="8" name="TextBox 7"/>
          <p:cNvSpPr txBox="1"/>
          <p:nvPr/>
        </p:nvSpPr>
        <p:spPr>
          <a:xfrm>
            <a:off x="731520" y="1600200"/>
            <a:ext cx="10058400" cy="2743200"/>
          </a:xfrm>
          <a:prstGeom prst="rect">
            <a:avLst/>
          </a:prstGeom>
          <a:noFill/>
        </p:spPr>
        <p:txBody>
          <a:bodyPr wrap="square">
            <a:spAutoFit/>
          </a:bodyPr>
          <a:lstStyle/>
          <a:p>
            <a:pPr algn="l">
              <a:spcBef>
                <a:spcPts val="0"/>
              </a:spcBef>
              <a:spcAft>
                <a:spcPts val="600"/>
              </a:spcAft>
            </a:pPr>
            <a:r>
              <a:rPr sz="1200" b="0" i="0">
                <a:solidFill>
                  <a:srgbClr val="6B6560"/>
                </a:solidFill>
                <a:latin typeface="Segoe UI"/>
              </a:rPr>
              <a:t>The point-of-care immunoassay (the cup test) is a screen — it is fast and useful but has meaningful false positive and false negative rates. A positive screen for an unexpected substance, or a negative screen for the prescribed opiate, should be confirmed with GC-MS or LC-MS/MS before you act on it clinically or document it as a confirmed finding.</a:t>
            </a:r>
          </a:p>
          <a:p>
            <a:pPr algn="l">
              <a:spcBef>
                <a:spcPts val="0"/>
              </a:spcBef>
              <a:spcAft>
                <a:spcPts val="600"/>
              </a:spcAft>
            </a:pPr>
            <a:r>
              <a:rPr sz="1200" b="0" i="0">
                <a:solidFill>
                  <a:srgbClr val="6B6560"/>
                </a:solidFill>
                <a:latin typeface="Segoe UI"/>
              </a:rPr>
              <a:t>Do not discharge a patient based on a screen alone.</a:t>
            </a:r>
          </a:p>
        </p:txBody>
      </p:sp>
      <p:sp>
        <p:nvSpPr>
          <p:cNvPr id="9" name="Rectangle 8"/>
          <p:cNvSpPr/>
          <p:nvPr/>
        </p:nvSpPr>
        <p:spPr>
          <a:xfrm>
            <a:off x="594360" y="1600200"/>
            <a:ext cx="31750" cy="9144"/>
          </a:xfrm>
          <a:prstGeom prst="rect">
            <a:avLst/>
          </a:prstGeom>
          <a:solidFill>
            <a:srgbClr val="EA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 y="3108960"/>
            <a:ext cx="9601200" cy="9525"/>
          </a:xfrm>
          <a:prstGeom prst="rect">
            <a:avLst/>
          </a:prstGeom>
          <a:solidFill>
            <a:srgbClr val="D6D0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3246120"/>
            <a:ext cx="10515600" cy="457200"/>
          </a:xfrm>
          <a:prstGeom prst="rect">
            <a:avLst/>
          </a:prstGeom>
          <a:noFill/>
        </p:spPr>
        <p:txBody>
          <a:bodyPr wrap="square">
            <a:spAutoFit/>
          </a:bodyPr>
          <a:lstStyle/>
          <a:p>
            <a:pPr algn="l">
              <a:spcBef>
                <a:spcPts val="0"/>
              </a:spcBef>
              <a:spcAft>
                <a:spcPts val="200"/>
              </a:spcAft>
            </a:pPr>
            <a:r>
              <a:rPr sz="1400" b="1" i="0">
                <a:solidFill>
                  <a:srgbClr val="1C1A16"/>
                </a:solidFill>
                <a:latin typeface="Segoe UI"/>
              </a:rPr>
              <a:t>The UDS is negative for the prescribed opiate. What does that mean?</a:t>
            </a:r>
          </a:p>
        </p:txBody>
      </p:sp>
      <p:sp>
        <p:nvSpPr>
          <p:cNvPr id="12" name="TextBox 11"/>
          <p:cNvSpPr txBox="1"/>
          <p:nvPr/>
        </p:nvSpPr>
        <p:spPr>
          <a:xfrm>
            <a:off x="731520" y="3657600"/>
            <a:ext cx="10058400" cy="2743200"/>
          </a:xfrm>
          <a:prstGeom prst="rect">
            <a:avLst/>
          </a:prstGeom>
          <a:noFill/>
        </p:spPr>
        <p:txBody>
          <a:bodyPr wrap="square">
            <a:spAutoFit/>
          </a:bodyPr>
          <a:lstStyle/>
          <a:p>
            <a:pPr algn="l">
              <a:spcBef>
                <a:spcPts val="0"/>
              </a:spcBef>
              <a:spcAft>
                <a:spcPts val="600"/>
              </a:spcAft>
            </a:pPr>
            <a:r>
              <a:rPr sz="1200" b="0" i="0">
                <a:solidFill>
                  <a:srgbClr val="6B6560"/>
                </a:solidFill>
                <a:latin typeface="Segoe UI"/>
              </a:rPr>
              <a:t>Several possibilities: the patient did not take the medication as prescribed (most concerning — suggests diversion or stockpiling), the patient took it but timing of the dose relative to collection caused a false negative (less common with chronic dosing), or there is a metabolic variant affecting detection.</a:t>
            </a:r>
          </a:p>
          <a:p>
            <a:pPr algn="l">
              <a:spcBef>
                <a:spcPts val="0"/>
              </a:spcBef>
              <a:spcAft>
                <a:spcPts val="600"/>
              </a:spcAft>
            </a:pPr>
            <a:r>
              <a:rPr sz="1200" b="0" i="0">
                <a:solidFill>
                  <a:srgbClr val="6B6560"/>
                </a:solidFill>
                <a:latin typeface="Segoe UI"/>
              </a:rPr>
              <a:t>Confirm with send-out testing. Have a non-accusatory conversation: </a:t>
            </a:r>
            <a:r>
              <a:rPr sz="1200" b="0" i="1">
                <a:solidFill>
                  <a:srgbClr val="6B6560"/>
                </a:solidFill>
                <a:latin typeface="Segoe UI"/>
              </a:rPr>
              <a:t>"I want to make sure we understand this result together before drawing any conclusions."</a:t>
            </a:r>
            <a:r>
              <a:rPr sz="1200" b="0" i="0">
                <a:solidFill>
                  <a:srgbClr val="6B6560"/>
                </a:solidFill>
                <a:latin typeface="Segoe UI"/>
              </a:rPr>
              <a:t> Document the conversation and the plan for follow-up testing.</a:t>
            </a:r>
          </a:p>
        </p:txBody>
      </p:sp>
      <p:sp>
        <p:nvSpPr>
          <p:cNvPr id="13" name="Rectangle 12"/>
          <p:cNvSpPr/>
          <p:nvPr/>
        </p:nvSpPr>
        <p:spPr>
          <a:xfrm>
            <a:off x="594360" y="3657600"/>
            <a:ext cx="31750" cy="9144"/>
          </a:xfrm>
          <a:prstGeom prst="rect">
            <a:avLst/>
          </a:prstGeom>
          <a:solidFill>
            <a:srgbClr val="EA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31520" y="5394960"/>
            <a:ext cx="9601200" cy="9525"/>
          </a:xfrm>
          <a:prstGeom prst="rect">
            <a:avLst/>
          </a:prstGeom>
          <a:solidFill>
            <a:srgbClr val="D6D0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8640" y="5532120"/>
            <a:ext cx="10515600" cy="457200"/>
          </a:xfrm>
          <a:prstGeom prst="rect">
            <a:avLst/>
          </a:prstGeom>
          <a:noFill/>
        </p:spPr>
        <p:txBody>
          <a:bodyPr wrap="square">
            <a:spAutoFit/>
          </a:bodyPr>
          <a:lstStyle/>
          <a:p>
            <a:pPr algn="l">
              <a:spcBef>
                <a:spcPts val="0"/>
              </a:spcBef>
              <a:spcAft>
                <a:spcPts val="200"/>
              </a:spcAft>
            </a:pPr>
            <a:r>
              <a:rPr sz="1400" b="1" i="0">
                <a:solidFill>
                  <a:srgbClr val="1C1A16"/>
                </a:solidFill>
                <a:latin typeface="Segoe UI"/>
              </a:rPr>
              <a:t>How often should UDS be repeated after intake?</a:t>
            </a:r>
          </a:p>
        </p:txBody>
      </p:sp>
      <p:sp>
        <p:nvSpPr>
          <p:cNvPr id="16" name="TextBox 15"/>
          <p:cNvSpPr txBox="1"/>
          <p:nvPr/>
        </p:nvSpPr>
        <p:spPr>
          <a:xfrm>
            <a:off x="731520" y="5943600"/>
            <a:ext cx="10058400" cy="2743200"/>
          </a:xfrm>
          <a:prstGeom prst="rect">
            <a:avLst/>
          </a:prstGeom>
          <a:noFill/>
        </p:spPr>
        <p:txBody>
          <a:bodyPr wrap="square">
            <a:spAutoFit/>
          </a:bodyPr>
          <a:lstStyle/>
          <a:p>
            <a:pPr algn="l">
              <a:spcBef>
                <a:spcPts val="0"/>
              </a:spcBef>
              <a:spcAft>
                <a:spcPts val="600"/>
              </a:spcAft>
            </a:pPr>
            <a:r>
              <a:rPr sz="1200" b="0" i="0">
                <a:solidFill>
                  <a:srgbClr val="6B6560"/>
                </a:solidFill>
                <a:latin typeface="Segoe UI"/>
              </a:rPr>
              <a:t>Risk-stratified. A stable patient with a clean PDMP, signed agreement, and no behavioral concerns: every 6–12 months is a defensible standard. A patient with any yellow flags: every 3 months. A patient with active concerns or recent escalation: at every visit until stable.</a:t>
            </a:r>
          </a:p>
          <a:p>
            <a:pPr algn="l">
              <a:spcBef>
                <a:spcPts val="0"/>
              </a:spcBef>
              <a:spcAft>
                <a:spcPts val="600"/>
              </a:spcAft>
            </a:pPr>
            <a:r>
              <a:rPr sz="1200" b="0" i="0">
                <a:solidFill>
                  <a:srgbClr val="6B6560"/>
                </a:solidFill>
                <a:latin typeface="Segoe UI"/>
              </a:rPr>
              <a:t>Document your reasoning for the interval chosen.</a:t>
            </a:r>
          </a:p>
        </p:txBody>
      </p:sp>
      <p:sp>
        <p:nvSpPr>
          <p:cNvPr id="17" name="Rectangle 16"/>
          <p:cNvSpPr/>
          <p:nvPr/>
        </p:nvSpPr>
        <p:spPr>
          <a:xfrm>
            <a:off x="594360" y="5943600"/>
            <a:ext cx="31750" cy="9144"/>
          </a:xfrm>
          <a:prstGeom prst="rect">
            <a:avLst/>
          </a:prstGeom>
          <a:solidFill>
            <a:srgbClr val="EA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DFCF9"/>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1A5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731520" cy="320040"/>
          </a:xfrm>
          <a:prstGeom prst="rect">
            <a:avLst/>
          </a:prstGeom>
          <a:noFill/>
        </p:spPr>
        <p:txBody>
          <a:bodyPr wrap="square">
            <a:spAutoFit/>
          </a:bodyPr>
          <a:lstStyle/>
          <a:p>
            <a:pPr algn="ctr">
              <a:spcBef>
                <a:spcPts val="0"/>
              </a:spcBef>
              <a:spcAft>
                <a:spcPts val="400"/>
              </a:spcAft>
            </a:pPr>
            <a:r>
              <a:rPr sz="1400" b="1" i="0">
                <a:solidFill>
                  <a:srgbClr val="1A5C3A"/>
                </a:solidFill>
                <a:latin typeface="Segoe UI"/>
              </a:rPr>
              <a:t>F4</a:t>
            </a:r>
          </a:p>
        </p:txBody>
      </p:sp>
      <p:sp>
        <p:nvSpPr>
          <p:cNvPr id="4" name="Rectangle 3"/>
          <p:cNvSpPr/>
          <p:nvPr/>
        </p:nvSpPr>
        <p:spPr>
          <a:xfrm>
            <a:off x="502920" y="118872"/>
            <a:ext cx="594360" cy="3200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280160" y="109728"/>
            <a:ext cx="9144000" cy="274320"/>
          </a:xfrm>
          <a:prstGeom prst="rect">
            <a:avLst/>
          </a:prstGeom>
          <a:noFill/>
        </p:spPr>
        <p:txBody>
          <a:bodyPr wrap="square">
            <a:spAutoFit/>
          </a:bodyPr>
          <a:lstStyle/>
          <a:p>
            <a:pPr algn="l">
              <a:spcBef>
                <a:spcPts val="0"/>
              </a:spcBef>
              <a:spcAft>
                <a:spcPts val="400"/>
              </a:spcAft>
            </a:pPr>
            <a:r>
              <a:rPr sz="1000" b="0" i="0">
                <a:solidFill>
                  <a:srgbClr val="CCDDCC"/>
                </a:solidFill>
                <a:latin typeface="Segoe UI"/>
              </a:rPr>
              <a:t>MME CALCULATION</a:t>
            </a:r>
          </a:p>
        </p:txBody>
      </p:sp>
      <p:sp>
        <p:nvSpPr>
          <p:cNvPr id="6" name="TextBox 5"/>
          <p:cNvSpPr txBox="1"/>
          <p:nvPr/>
        </p:nvSpPr>
        <p:spPr>
          <a:xfrm>
            <a:off x="1280160" y="384048"/>
            <a:ext cx="9144000" cy="457200"/>
          </a:xfrm>
          <a:prstGeom prst="rect">
            <a:avLst/>
          </a:prstGeom>
          <a:noFill/>
        </p:spPr>
        <p:txBody>
          <a:bodyPr wrap="square">
            <a:spAutoFit/>
          </a:bodyPr>
          <a:lstStyle/>
          <a:p>
            <a:pPr algn="l">
              <a:spcBef>
                <a:spcPts val="0"/>
              </a:spcBef>
              <a:spcAft>
                <a:spcPts val="400"/>
              </a:spcAft>
            </a:pPr>
            <a:r>
              <a:rPr sz="1800" b="1" i="0">
                <a:solidFill>
                  <a:srgbClr val="FFFFFF"/>
                </a:solidFill>
                <a:latin typeface="Segoe UI"/>
              </a:rPr>
              <a:t>Morphine milligram equivalents — calculating and contextualizing</a:t>
            </a:r>
          </a:p>
        </p:txBody>
      </p:sp>
      <p:sp>
        <p:nvSpPr>
          <p:cNvPr id="7" name="TextBox 6"/>
          <p:cNvSpPr txBox="1"/>
          <p:nvPr/>
        </p:nvSpPr>
        <p:spPr>
          <a:xfrm>
            <a:off x="548640" y="1188720"/>
            <a:ext cx="10515600" cy="457200"/>
          </a:xfrm>
          <a:prstGeom prst="rect">
            <a:avLst/>
          </a:prstGeom>
          <a:noFill/>
        </p:spPr>
        <p:txBody>
          <a:bodyPr wrap="square">
            <a:spAutoFit/>
          </a:bodyPr>
          <a:lstStyle/>
          <a:p>
            <a:pPr algn="l">
              <a:spcBef>
                <a:spcPts val="0"/>
              </a:spcBef>
              <a:spcAft>
                <a:spcPts val="200"/>
              </a:spcAft>
            </a:pPr>
            <a:r>
              <a:rPr sz="1400" b="1" i="0">
                <a:solidFill>
                  <a:srgbClr val="1C1A16"/>
                </a:solidFill>
                <a:latin typeface="Segoe UI"/>
              </a:rPr>
              <a:t>How do I calculate MME?</a:t>
            </a:r>
          </a:p>
        </p:txBody>
      </p:sp>
      <p:sp>
        <p:nvSpPr>
          <p:cNvPr id="8" name="TextBox 7"/>
          <p:cNvSpPr txBox="1"/>
          <p:nvPr/>
        </p:nvSpPr>
        <p:spPr>
          <a:xfrm>
            <a:off x="731520" y="1600200"/>
            <a:ext cx="10058400" cy="2743200"/>
          </a:xfrm>
          <a:prstGeom prst="rect">
            <a:avLst/>
          </a:prstGeom>
          <a:noFill/>
        </p:spPr>
        <p:txBody>
          <a:bodyPr wrap="square">
            <a:spAutoFit/>
          </a:bodyPr>
          <a:lstStyle/>
          <a:p>
            <a:pPr algn="l">
              <a:spcBef>
                <a:spcPts val="0"/>
              </a:spcBef>
              <a:spcAft>
                <a:spcPts val="600"/>
              </a:spcAft>
            </a:pPr>
            <a:r>
              <a:rPr sz="1200" b="1" i="0">
                <a:solidFill>
                  <a:srgbClr val="1C1A16"/>
                </a:solidFill>
                <a:latin typeface="Segoe UI"/>
              </a:rPr>
              <a:t>Multiply the daily dose by the conversion factor for that opioid:</a:t>
            </a:r>
          </a:p>
          <a:p>
            <a:pPr algn="l">
              <a:spcBef>
                <a:spcPts val="0"/>
              </a:spcBef>
              <a:spcAft>
                <a:spcPts val="600"/>
              </a:spcAft>
            </a:pPr>
            <a:r>
              <a:rPr sz="1100" b="1" i="0">
                <a:solidFill>
                  <a:srgbClr val="6B6560"/>
                </a:solidFill>
                <a:latin typeface="Segoe UI"/>
              </a:rPr>
              <a:t>[Morphine]</a:t>
            </a:r>
            <a:r>
              <a:rPr sz="1200" b="0" i="0">
                <a:solidFill>
                  <a:srgbClr val="6B6560"/>
                </a:solidFill>
                <a:latin typeface="Segoe UI"/>
              </a:rPr>
              <a:t> — 1:1 (30 mg morphine = 30 MME)</a:t>
            </a:r>
          </a:p>
          <a:p>
            <a:pPr algn="l">
              <a:spcBef>
                <a:spcPts val="0"/>
              </a:spcBef>
              <a:spcAft>
                <a:spcPts val="600"/>
              </a:spcAft>
            </a:pPr>
            <a:r>
              <a:rPr sz="1100" b="1" i="0">
                <a:solidFill>
                  <a:srgbClr val="6B6560"/>
                </a:solidFill>
                <a:latin typeface="Segoe UI"/>
              </a:rPr>
              <a:t>[Oxycodone]</a:t>
            </a:r>
            <a:r>
              <a:rPr sz="1200" b="0" i="0">
                <a:solidFill>
                  <a:srgbClr val="6B6560"/>
                </a:solidFill>
                <a:latin typeface="Segoe UI"/>
              </a:rPr>
              <a:t> — × 1.5 (30 mg oxycodone = 45 MME)</a:t>
            </a:r>
          </a:p>
          <a:p>
            <a:pPr algn="l">
              <a:spcBef>
                <a:spcPts val="0"/>
              </a:spcBef>
              <a:spcAft>
                <a:spcPts val="600"/>
              </a:spcAft>
            </a:pPr>
            <a:r>
              <a:rPr sz="1100" b="1" i="0">
                <a:solidFill>
                  <a:srgbClr val="6B6560"/>
                </a:solidFill>
                <a:latin typeface="Segoe UI"/>
              </a:rPr>
              <a:t>[Hydrocodone]</a:t>
            </a:r>
            <a:r>
              <a:rPr sz="1200" b="0" i="0">
                <a:solidFill>
                  <a:srgbClr val="6B6560"/>
                </a:solidFill>
                <a:latin typeface="Segoe UI"/>
              </a:rPr>
              <a:t> — × 1 (30 mg hydrocodone = 30 MME)</a:t>
            </a:r>
          </a:p>
          <a:p>
            <a:pPr algn="l">
              <a:spcBef>
                <a:spcPts val="0"/>
              </a:spcBef>
              <a:spcAft>
                <a:spcPts val="600"/>
              </a:spcAft>
            </a:pPr>
            <a:r>
              <a:rPr sz="1100" b="1" i="0">
                <a:solidFill>
                  <a:srgbClr val="6B6560"/>
                </a:solidFill>
                <a:latin typeface="Segoe UI"/>
              </a:rPr>
              <a:t>[Hydromorphone]</a:t>
            </a:r>
            <a:r>
              <a:rPr sz="1200" b="0" i="0">
                <a:solidFill>
                  <a:srgbClr val="6B6560"/>
                </a:solidFill>
                <a:latin typeface="Segoe UI"/>
              </a:rPr>
              <a:t> — × 5 (8 mg hydromorphone = 40 MME)</a:t>
            </a:r>
          </a:p>
          <a:p>
            <a:pPr algn="l">
              <a:spcBef>
                <a:spcPts val="0"/>
              </a:spcBef>
              <a:spcAft>
                <a:spcPts val="600"/>
              </a:spcAft>
            </a:pPr>
            <a:r>
              <a:rPr sz="1100" b="1" i="0">
                <a:solidFill>
                  <a:srgbClr val="6B6560"/>
                </a:solidFill>
                <a:latin typeface="Segoe UI"/>
              </a:rPr>
              <a:t>[Fentanyl patch]</a:t>
            </a:r>
            <a:r>
              <a:rPr sz="1200" b="0" i="0">
                <a:solidFill>
                  <a:srgbClr val="6B6560"/>
                </a:solidFill>
                <a:latin typeface="Segoe UI"/>
              </a:rPr>
              <a:t> — mcg/hr × 2.4 (25 mcg/hr patch = 60 MME/day)</a:t>
            </a:r>
          </a:p>
          <a:p>
            <a:pPr algn="l">
              <a:spcBef>
                <a:spcPts val="0"/>
              </a:spcBef>
              <a:spcAft>
                <a:spcPts val="600"/>
              </a:spcAft>
            </a:pPr>
            <a:r>
              <a:rPr sz="1100" b="1" i="0">
                <a:solidFill>
                  <a:srgbClr val="6B6560"/>
                </a:solidFill>
                <a:latin typeface="Segoe UI"/>
              </a:rPr>
              <a:t>[Tramadol]</a:t>
            </a:r>
            <a:r>
              <a:rPr sz="1200" b="0" i="0">
                <a:solidFill>
                  <a:srgbClr val="6B6560"/>
                </a:solidFill>
                <a:latin typeface="Segoe UI"/>
              </a:rPr>
              <a:t> — × 0.1 (200 mg tramadol = 20 MME)</a:t>
            </a:r>
          </a:p>
          <a:p>
            <a:pPr algn="l">
              <a:spcBef>
                <a:spcPts val="0"/>
              </a:spcBef>
              <a:spcAft>
                <a:spcPts val="600"/>
              </a:spcAft>
            </a:pPr>
            <a:r>
              <a:rPr sz="1200" b="0" i="0">
                <a:solidFill>
                  <a:srgbClr val="6B6560"/>
                </a:solidFill>
                <a:latin typeface="Segoe UI"/>
              </a:rPr>
              <a:t>For patients on multiple opiates, sum the MME of all agents.</a:t>
            </a:r>
          </a:p>
        </p:txBody>
      </p:sp>
      <p:sp>
        <p:nvSpPr>
          <p:cNvPr id="9" name="Rectangle 8"/>
          <p:cNvSpPr/>
          <p:nvPr/>
        </p:nvSpPr>
        <p:spPr>
          <a:xfrm>
            <a:off x="594360" y="1600200"/>
            <a:ext cx="31750" cy="9144"/>
          </a:xfrm>
          <a:prstGeom prst="rect">
            <a:avLst/>
          </a:prstGeom>
          <a:solidFill>
            <a:srgbClr val="EA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 y="4480560"/>
            <a:ext cx="9601200" cy="9525"/>
          </a:xfrm>
          <a:prstGeom prst="rect">
            <a:avLst/>
          </a:prstGeom>
          <a:solidFill>
            <a:srgbClr val="D6D0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4617720"/>
            <a:ext cx="10515600" cy="457200"/>
          </a:xfrm>
          <a:prstGeom prst="rect">
            <a:avLst/>
          </a:prstGeom>
          <a:noFill/>
        </p:spPr>
        <p:txBody>
          <a:bodyPr wrap="square">
            <a:spAutoFit/>
          </a:bodyPr>
          <a:lstStyle/>
          <a:p>
            <a:pPr algn="l">
              <a:spcBef>
                <a:spcPts val="0"/>
              </a:spcBef>
              <a:spcAft>
                <a:spcPts val="200"/>
              </a:spcAft>
            </a:pPr>
            <a:r>
              <a:rPr sz="1400" b="1" i="0">
                <a:solidFill>
                  <a:srgbClr val="1C1A16"/>
                </a:solidFill>
                <a:latin typeface="Segoe UI"/>
              </a:rPr>
              <a:t>What are the thresholds I should know?</a:t>
            </a:r>
          </a:p>
        </p:txBody>
      </p:sp>
      <p:sp>
        <p:nvSpPr>
          <p:cNvPr id="12" name="TextBox 11"/>
          <p:cNvSpPr txBox="1"/>
          <p:nvPr/>
        </p:nvSpPr>
        <p:spPr>
          <a:xfrm>
            <a:off x="731520" y="5029200"/>
            <a:ext cx="10058400" cy="2743200"/>
          </a:xfrm>
          <a:prstGeom prst="rect">
            <a:avLst/>
          </a:prstGeom>
          <a:noFill/>
        </p:spPr>
        <p:txBody>
          <a:bodyPr wrap="square">
            <a:spAutoFit/>
          </a:bodyPr>
          <a:lstStyle/>
          <a:p>
            <a:pPr algn="l">
              <a:spcBef>
                <a:spcPts val="0"/>
              </a:spcBef>
              <a:spcAft>
                <a:spcPts val="600"/>
              </a:spcAft>
            </a:pPr>
            <a:r>
              <a:rPr sz="1200" b="1" i="0">
                <a:solidFill>
                  <a:srgbClr val="1C1A16"/>
                </a:solidFill>
                <a:latin typeface="Segoe UI"/>
              </a:rPr>
              <a:t>CDC guidance identifies key inflection points:</a:t>
            </a:r>
          </a:p>
          <a:p>
            <a:pPr algn="l">
              <a:spcBef>
                <a:spcPts val="0"/>
              </a:spcBef>
              <a:spcAft>
                <a:spcPts val="600"/>
              </a:spcAft>
            </a:pPr>
            <a:r>
              <a:rPr sz="1100" b="1" i="0">
                <a:solidFill>
                  <a:srgbClr val="7A3B1E"/>
                </a:solidFill>
                <a:latin typeface="Segoe UI"/>
              </a:rPr>
              <a:t>[50 MME/day]</a:t>
            </a:r>
            <a:r>
              <a:rPr sz="1200" b="0" i="0">
                <a:solidFill>
                  <a:srgbClr val="6B6560"/>
                </a:solidFill>
                <a:latin typeface="Segoe UI"/>
              </a:rPr>
              <a:t> — increased overdose risk begins; reassess benefit/risk, ensure naloxone is prescribed and patient and household are trained.</a:t>
            </a:r>
          </a:p>
          <a:p>
            <a:pPr algn="l">
              <a:spcBef>
                <a:spcPts val="0"/>
              </a:spcBef>
              <a:spcAft>
                <a:spcPts val="600"/>
              </a:spcAft>
            </a:pPr>
            <a:r>
              <a:rPr sz="1100" b="1" i="0">
                <a:solidFill>
                  <a:srgbClr val="7A3B1E"/>
                </a:solidFill>
                <a:latin typeface="Segoe UI"/>
              </a:rPr>
              <a:t>[90 MME/day]</a:t>
            </a:r>
            <a:r>
              <a:rPr sz="1200" b="0" i="0">
                <a:solidFill>
                  <a:srgbClr val="6B6560"/>
                </a:solidFill>
                <a:latin typeface="Segoe UI"/>
              </a:rPr>
              <a:t> — avoid prescribing above this threshold without documented specialist involvement and clear clinical rationale. This is not a hard ceiling but a high-scrutiny zone. Above 90 MME without pain management co-management is an escalation indicator in this framework.</a:t>
            </a:r>
          </a:p>
        </p:txBody>
      </p:sp>
      <p:sp>
        <p:nvSpPr>
          <p:cNvPr id="13" name="Rectangle 12"/>
          <p:cNvSpPr/>
          <p:nvPr/>
        </p:nvSpPr>
        <p:spPr>
          <a:xfrm>
            <a:off x="594360" y="5029200"/>
            <a:ext cx="31750" cy="9144"/>
          </a:xfrm>
          <a:prstGeom prst="rect">
            <a:avLst/>
          </a:prstGeom>
          <a:solidFill>
            <a:srgbClr val="EA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DFCF9"/>
        </a:solidFill>
        <a:effectLst/>
      </p:bgPr>
    </p:bg>
    <p:spTree>
      <p:nvGrpSpPr>
        <p:cNvPr id="1" name=""/>
        <p:cNvGrpSpPr/>
        <p:nvPr/>
      </p:nvGrpSpPr>
      <p:grpSpPr/>
      <p:sp>
        <p:nvSpPr>
          <p:cNvPr id="2" name="Rectangle 1"/>
          <p:cNvSpPr/>
          <p:nvPr/>
        </p:nvSpPr>
        <p:spPr>
          <a:xfrm>
            <a:off x="0" y="0"/>
            <a:ext cx="12191695" cy="548640"/>
          </a:xfrm>
          <a:prstGeom prst="rect">
            <a:avLst/>
          </a:prstGeom>
          <a:solidFill>
            <a:srgbClr val="1A5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9144000" cy="365760"/>
          </a:xfrm>
          <a:prstGeom prst="rect">
            <a:avLst/>
          </a:prstGeom>
          <a:noFill/>
        </p:spPr>
        <p:txBody>
          <a:bodyPr wrap="square">
            <a:spAutoFit/>
          </a:bodyPr>
          <a:lstStyle/>
          <a:p>
            <a:pPr algn="l">
              <a:spcBef>
                <a:spcPts val="0"/>
              </a:spcBef>
              <a:spcAft>
                <a:spcPts val="400"/>
              </a:spcAft>
            </a:pPr>
            <a:r>
              <a:rPr sz="1300" b="1" i="0">
                <a:solidFill>
                  <a:srgbClr val="FFFFFF"/>
                </a:solidFill>
                <a:latin typeface="Segoe UI"/>
              </a:rPr>
              <a:t>F4 — Morphine milligram equivalents — calculating and contextualizing (continued)</a:t>
            </a:r>
          </a:p>
        </p:txBody>
      </p:sp>
      <p:sp>
        <p:nvSpPr>
          <p:cNvPr id="4" name="TextBox 3"/>
          <p:cNvSpPr txBox="1"/>
          <p:nvPr/>
        </p:nvSpPr>
        <p:spPr>
          <a:xfrm>
            <a:off x="548640" y="822960"/>
            <a:ext cx="10515600" cy="457200"/>
          </a:xfrm>
          <a:prstGeom prst="rect">
            <a:avLst/>
          </a:prstGeom>
          <a:noFill/>
        </p:spPr>
        <p:txBody>
          <a:bodyPr wrap="square">
            <a:spAutoFit/>
          </a:bodyPr>
          <a:lstStyle/>
          <a:p>
            <a:pPr algn="l">
              <a:spcBef>
                <a:spcPts val="0"/>
              </a:spcBef>
              <a:spcAft>
                <a:spcPts val="200"/>
              </a:spcAft>
            </a:pPr>
            <a:r>
              <a:rPr sz="1400" b="1" i="0">
                <a:solidFill>
                  <a:srgbClr val="1C1A16"/>
                </a:solidFill>
                <a:latin typeface="Segoe UI"/>
              </a:rPr>
              <a:t>The patient is on 120 MME/day and has been stable for years. Do I taper them?</a:t>
            </a:r>
          </a:p>
        </p:txBody>
      </p:sp>
      <p:sp>
        <p:nvSpPr>
          <p:cNvPr id="5" name="TextBox 4"/>
          <p:cNvSpPr txBox="1"/>
          <p:nvPr/>
        </p:nvSpPr>
        <p:spPr>
          <a:xfrm>
            <a:off x="731520" y="1234440"/>
            <a:ext cx="10058400" cy="2743200"/>
          </a:xfrm>
          <a:prstGeom prst="rect">
            <a:avLst/>
          </a:prstGeom>
          <a:noFill/>
        </p:spPr>
        <p:txBody>
          <a:bodyPr wrap="square">
            <a:spAutoFit/>
          </a:bodyPr>
          <a:lstStyle/>
          <a:p>
            <a:pPr algn="l">
              <a:spcBef>
                <a:spcPts val="0"/>
              </a:spcBef>
              <a:spcAft>
                <a:spcPts val="600"/>
              </a:spcAft>
            </a:pPr>
            <a:r>
              <a:rPr sz="1200" b="0" i="0">
                <a:solidFill>
                  <a:srgbClr val="6B6560"/>
                </a:solidFill>
                <a:latin typeface="Segoe UI"/>
              </a:rPr>
              <a:t>Stability is meaningful clinical information. Abrupt taper of a long-stable high-dose patient causes harm — undertreated pain, withdrawal, loss of function, and in some cases drives patients to illicit opioids. Do not taper at the first visit.</a:t>
            </a:r>
          </a:p>
          <a:p>
            <a:pPr algn="l">
              <a:spcBef>
                <a:spcPts val="0"/>
              </a:spcBef>
              <a:spcAft>
                <a:spcPts val="600"/>
              </a:spcAft>
            </a:pPr>
            <a:r>
              <a:rPr sz="1200" b="0" i="0">
                <a:solidFill>
                  <a:srgbClr val="6B6560"/>
                </a:solidFill>
                <a:latin typeface="Segoe UI"/>
              </a:rPr>
              <a:t>Complete the intake assessment, establish the relationship, prescribe with full documentation of your awareness of the dose and your clinical rationale for continuation, and use the e-consult to get pain management eyes on the chart. The question for the consult is: </a:t>
            </a:r>
            <a:r>
              <a:rPr sz="1200" b="0" i="1">
                <a:solidFill>
                  <a:srgbClr val="6B6560"/>
                </a:solidFill>
                <a:latin typeface="Segoe UI"/>
              </a:rPr>
              <a:t>"Patient stable on X MME/day for Y years. Please review and advise on whether current plan is appropriate or whether structured taper is indicated."</a:t>
            </a:r>
          </a:p>
        </p:txBody>
      </p:sp>
      <p:sp>
        <p:nvSpPr>
          <p:cNvPr id="6" name="Rectangle 5"/>
          <p:cNvSpPr/>
          <p:nvPr/>
        </p:nvSpPr>
        <p:spPr>
          <a:xfrm>
            <a:off x="594360" y="1234440"/>
            <a:ext cx="31750" cy="9144"/>
          </a:xfrm>
          <a:prstGeom prst="rect">
            <a:avLst/>
          </a:prstGeom>
          <a:solidFill>
            <a:srgbClr val="EA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3429000"/>
            <a:ext cx="9601200" cy="9525"/>
          </a:xfrm>
          <a:prstGeom prst="rect">
            <a:avLst/>
          </a:prstGeom>
          <a:solidFill>
            <a:srgbClr val="D6D0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3566160"/>
            <a:ext cx="10515600" cy="457200"/>
          </a:xfrm>
          <a:prstGeom prst="rect">
            <a:avLst/>
          </a:prstGeom>
          <a:noFill/>
        </p:spPr>
        <p:txBody>
          <a:bodyPr wrap="square">
            <a:spAutoFit/>
          </a:bodyPr>
          <a:lstStyle/>
          <a:p>
            <a:pPr algn="l">
              <a:spcBef>
                <a:spcPts val="0"/>
              </a:spcBef>
              <a:spcAft>
                <a:spcPts val="200"/>
              </a:spcAft>
            </a:pPr>
            <a:r>
              <a:rPr sz="1400" b="1" i="0">
                <a:solidFill>
                  <a:srgbClr val="1C1A16"/>
                </a:solidFill>
                <a:latin typeface="Segoe UI"/>
              </a:rPr>
              <a:t>Should I prescribe naloxone?</a:t>
            </a:r>
          </a:p>
        </p:txBody>
      </p:sp>
      <p:sp>
        <p:nvSpPr>
          <p:cNvPr id="9" name="TextBox 8"/>
          <p:cNvSpPr txBox="1"/>
          <p:nvPr/>
        </p:nvSpPr>
        <p:spPr>
          <a:xfrm>
            <a:off x="731520" y="3977640"/>
            <a:ext cx="10058400" cy="2743200"/>
          </a:xfrm>
          <a:prstGeom prst="rect">
            <a:avLst/>
          </a:prstGeom>
          <a:noFill/>
        </p:spPr>
        <p:txBody>
          <a:bodyPr wrap="square">
            <a:spAutoFit/>
          </a:bodyPr>
          <a:lstStyle/>
          <a:p>
            <a:pPr algn="l">
              <a:spcBef>
                <a:spcPts val="0"/>
              </a:spcBef>
              <a:spcAft>
                <a:spcPts val="600"/>
              </a:spcAft>
            </a:pPr>
            <a:r>
              <a:rPr sz="1200" b="0" i="0">
                <a:solidFill>
                  <a:srgbClr val="6B6560"/>
                </a:solidFill>
                <a:latin typeface="Segoe UI"/>
              </a:rPr>
              <a:t>Yes — for any patient on ≥ 50 MME/day, any patient on opiates plus any CNS depressant, any patient with a history of SUD or overdose, and any patient whose household includes children or others at risk of accidental exposure.</a:t>
            </a:r>
          </a:p>
          <a:p>
            <a:pPr algn="l">
              <a:spcBef>
                <a:spcPts val="0"/>
              </a:spcBef>
              <a:spcAft>
                <a:spcPts val="600"/>
              </a:spcAft>
            </a:pPr>
            <a:r>
              <a:rPr sz="1200" b="0" i="0">
                <a:solidFill>
                  <a:srgbClr val="6B6560"/>
                </a:solidFill>
                <a:latin typeface="Segoe UI"/>
              </a:rPr>
              <a:t>Document that you prescribed it, that you counseled on administration, and that the household has access to it. This is now a standard of care expectation, not an optional add-on.</a:t>
            </a:r>
          </a:p>
        </p:txBody>
      </p:sp>
      <p:sp>
        <p:nvSpPr>
          <p:cNvPr id="10" name="Rectangle 9"/>
          <p:cNvSpPr/>
          <p:nvPr/>
        </p:nvSpPr>
        <p:spPr>
          <a:xfrm>
            <a:off x="594360" y="3977640"/>
            <a:ext cx="31750" cy="9144"/>
          </a:xfrm>
          <a:prstGeom prst="rect">
            <a:avLst/>
          </a:prstGeom>
          <a:solidFill>
            <a:srgbClr val="EA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31520" y="5486400"/>
            <a:ext cx="9601200" cy="9525"/>
          </a:xfrm>
          <a:prstGeom prst="rect">
            <a:avLst/>
          </a:prstGeom>
          <a:solidFill>
            <a:srgbClr val="D6D0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DFCF9"/>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1A5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731520" cy="320040"/>
          </a:xfrm>
          <a:prstGeom prst="rect">
            <a:avLst/>
          </a:prstGeom>
          <a:noFill/>
        </p:spPr>
        <p:txBody>
          <a:bodyPr wrap="square">
            <a:spAutoFit/>
          </a:bodyPr>
          <a:lstStyle/>
          <a:p>
            <a:pPr algn="ctr">
              <a:spcBef>
                <a:spcPts val="0"/>
              </a:spcBef>
              <a:spcAft>
                <a:spcPts val="400"/>
              </a:spcAft>
            </a:pPr>
            <a:r>
              <a:rPr sz="1400" b="1" i="0">
                <a:solidFill>
                  <a:srgbClr val="1A5C3A"/>
                </a:solidFill>
                <a:latin typeface="Segoe UI"/>
              </a:rPr>
              <a:t>F5</a:t>
            </a:r>
          </a:p>
        </p:txBody>
      </p:sp>
      <p:sp>
        <p:nvSpPr>
          <p:cNvPr id="4" name="Rectangle 3"/>
          <p:cNvSpPr/>
          <p:nvPr/>
        </p:nvSpPr>
        <p:spPr>
          <a:xfrm>
            <a:off x="502920" y="118872"/>
            <a:ext cx="594360" cy="3200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280160" y="109728"/>
            <a:ext cx="9144000" cy="274320"/>
          </a:xfrm>
          <a:prstGeom prst="rect">
            <a:avLst/>
          </a:prstGeom>
          <a:noFill/>
        </p:spPr>
        <p:txBody>
          <a:bodyPr wrap="square">
            <a:spAutoFit/>
          </a:bodyPr>
          <a:lstStyle/>
          <a:p>
            <a:pPr algn="l">
              <a:spcBef>
                <a:spcPts val="0"/>
              </a:spcBef>
              <a:spcAft>
                <a:spcPts val="400"/>
              </a:spcAft>
            </a:pPr>
            <a:r>
              <a:rPr sz="1000" b="0" i="0">
                <a:solidFill>
                  <a:srgbClr val="CCDDCC"/>
                </a:solidFill>
                <a:latin typeface="Segoe UI"/>
              </a:rPr>
              <a:t>HIGH DOSE THRESHOLD</a:t>
            </a:r>
          </a:p>
        </p:txBody>
      </p:sp>
      <p:sp>
        <p:nvSpPr>
          <p:cNvPr id="6" name="TextBox 5"/>
          <p:cNvSpPr txBox="1"/>
          <p:nvPr/>
        </p:nvSpPr>
        <p:spPr>
          <a:xfrm>
            <a:off x="1280160" y="384048"/>
            <a:ext cx="9144000" cy="457200"/>
          </a:xfrm>
          <a:prstGeom prst="rect">
            <a:avLst/>
          </a:prstGeom>
          <a:noFill/>
        </p:spPr>
        <p:txBody>
          <a:bodyPr wrap="square">
            <a:spAutoFit/>
          </a:bodyPr>
          <a:lstStyle/>
          <a:p>
            <a:pPr algn="l">
              <a:spcBef>
                <a:spcPts val="0"/>
              </a:spcBef>
              <a:spcAft>
                <a:spcPts val="400"/>
              </a:spcAft>
            </a:pPr>
            <a:r>
              <a:rPr sz="1800" b="1" i="0">
                <a:solidFill>
                  <a:srgbClr val="FFFFFF"/>
                </a:solidFill>
                <a:latin typeface="Segoe UI"/>
              </a:rPr>
              <a:t>≥ 90 MME/day — what to do when you inherit a high-dose patient</a:t>
            </a:r>
          </a:p>
        </p:txBody>
      </p:sp>
      <p:sp>
        <p:nvSpPr>
          <p:cNvPr id="7" name="TextBox 6"/>
          <p:cNvSpPr txBox="1"/>
          <p:nvPr/>
        </p:nvSpPr>
        <p:spPr>
          <a:xfrm>
            <a:off x="548640" y="1188720"/>
            <a:ext cx="10515600" cy="457200"/>
          </a:xfrm>
          <a:prstGeom prst="rect">
            <a:avLst/>
          </a:prstGeom>
          <a:noFill/>
        </p:spPr>
        <p:txBody>
          <a:bodyPr wrap="square">
            <a:spAutoFit/>
          </a:bodyPr>
          <a:lstStyle/>
          <a:p>
            <a:pPr algn="l">
              <a:spcBef>
                <a:spcPts val="0"/>
              </a:spcBef>
              <a:spcAft>
                <a:spcPts val="200"/>
              </a:spcAft>
            </a:pPr>
            <a:r>
              <a:rPr sz="1400" b="1" i="0">
                <a:solidFill>
                  <a:srgbClr val="1C1A16"/>
                </a:solidFill>
                <a:latin typeface="Segoe UI"/>
              </a:rPr>
              <a:t>Can I continue prescribing at this dose while I arrange the e-consult?</a:t>
            </a:r>
          </a:p>
        </p:txBody>
      </p:sp>
      <p:sp>
        <p:nvSpPr>
          <p:cNvPr id="8" name="TextBox 7"/>
          <p:cNvSpPr txBox="1"/>
          <p:nvPr/>
        </p:nvSpPr>
        <p:spPr>
          <a:xfrm>
            <a:off x="731520" y="1600200"/>
            <a:ext cx="10058400" cy="2743200"/>
          </a:xfrm>
          <a:prstGeom prst="rect">
            <a:avLst/>
          </a:prstGeom>
          <a:noFill/>
        </p:spPr>
        <p:txBody>
          <a:bodyPr wrap="square">
            <a:spAutoFit/>
          </a:bodyPr>
          <a:lstStyle/>
          <a:p>
            <a:pPr algn="l">
              <a:spcBef>
                <a:spcPts val="0"/>
              </a:spcBef>
              <a:spcAft>
                <a:spcPts val="600"/>
              </a:spcAft>
            </a:pPr>
            <a:r>
              <a:rPr sz="1200" b="0" i="0">
                <a:solidFill>
                  <a:srgbClr val="6B6560"/>
                </a:solidFill>
                <a:latin typeface="Segoe UI"/>
              </a:rPr>
              <a:t>Yes — do not abruptly discontinue or reduce at the first visit while awaiting specialist input. Continuity of an established regimen while arranging appropriate oversight is clinically and ethically defensible.</a:t>
            </a:r>
          </a:p>
          <a:p>
            <a:pPr algn="l">
              <a:spcBef>
                <a:spcPts val="0"/>
              </a:spcBef>
              <a:spcAft>
                <a:spcPts val="600"/>
              </a:spcAft>
            </a:pPr>
            <a:r>
              <a:rPr sz="1200" b="0" i="0">
                <a:solidFill>
                  <a:srgbClr val="6B6560"/>
                </a:solidFill>
                <a:latin typeface="Segoe UI"/>
              </a:rPr>
              <a:t>Document your dose calculation, your awareness of the threshold, your safety measures (naloxone prescribed, UDS obtained, PDMP reviewed), and that e-consult to pain management is pending.</a:t>
            </a:r>
          </a:p>
        </p:txBody>
      </p:sp>
      <p:sp>
        <p:nvSpPr>
          <p:cNvPr id="9" name="Rectangle 8"/>
          <p:cNvSpPr/>
          <p:nvPr/>
        </p:nvSpPr>
        <p:spPr>
          <a:xfrm>
            <a:off x="594360" y="1600200"/>
            <a:ext cx="31750" cy="9144"/>
          </a:xfrm>
          <a:prstGeom prst="rect">
            <a:avLst/>
          </a:prstGeom>
          <a:solidFill>
            <a:srgbClr val="EA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 y="3108960"/>
            <a:ext cx="9601200" cy="9525"/>
          </a:xfrm>
          <a:prstGeom prst="rect">
            <a:avLst/>
          </a:prstGeom>
          <a:solidFill>
            <a:srgbClr val="D6D0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3246120"/>
            <a:ext cx="10515600" cy="457200"/>
          </a:xfrm>
          <a:prstGeom prst="rect">
            <a:avLst/>
          </a:prstGeom>
          <a:noFill/>
        </p:spPr>
        <p:txBody>
          <a:bodyPr wrap="square">
            <a:spAutoFit/>
          </a:bodyPr>
          <a:lstStyle/>
          <a:p>
            <a:pPr algn="l">
              <a:spcBef>
                <a:spcPts val="0"/>
              </a:spcBef>
              <a:spcAft>
                <a:spcPts val="200"/>
              </a:spcAft>
            </a:pPr>
            <a:r>
              <a:rPr sz="1400" b="1" i="0">
                <a:solidFill>
                  <a:srgbClr val="1C1A16"/>
                </a:solidFill>
                <a:latin typeface="Segoe UI"/>
              </a:rPr>
              <a:t>What is the e-consult ask at high dose?</a:t>
            </a:r>
          </a:p>
        </p:txBody>
      </p:sp>
      <p:sp>
        <p:nvSpPr>
          <p:cNvPr id="12" name="TextBox 11"/>
          <p:cNvSpPr txBox="1"/>
          <p:nvPr/>
        </p:nvSpPr>
        <p:spPr>
          <a:xfrm>
            <a:off x="731520" y="3657600"/>
            <a:ext cx="10058400" cy="2743200"/>
          </a:xfrm>
          <a:prstGeom prst="rect">
            <a:avLst/>
          </a:prstGeom>
          <a:noFill/>
        </p:spPr>
        <p:txBody>
          <a:bodyPr wrap="square">
            <a:spAutoFit/>
          </a:bodyPr>
          <a:lstStyle/>
          <a:p>
            <a:pPr algn="l">
              <a:spcBef>
                <a:spcPts val="0"/>
              </a:spcBef>
              <a:spcAft>
                <a:spcPts val="600"/>
              </a:spcAft>
            </a:pPr>
            <a:r>
              <a:rPr sz="1200" b="0" i="0">
                <a:solidFill>
                  <a:srgbClr val="6B6560"/>
                </a:solidFill>
                <a:latin typeface="Segoe UI"/>
              </a:rPr>
              <a:t>Be specific: </a:t>
            </a:r>
            <a:r>
              <a:rPr sz="1200" b="0" i="1">
                <a:solidFill>
                  <a:srgbClr val="6B6560"/>
                </a:solidFill>
                <a:latin typeface="Segoe UI"/>
              </a:rPr>
              <a:t>"Patient inherited on [X] MME/day of [agent] for [indication]. No prior pain management documentation in chart. PDMP clean, UDS confirms prescribed medication, patient reports functional stability. Please review current regimen and advise: (1) whether dose is appropriate for indication, (2) whether structured taper is recommended, and (3) whether ongoing co-management is indicated."</a:t>
            </a:r>
          </a:p>
        </p:txBody>
      </p:sp>
      <p:sp>
        <p:nvSpPr>
          <p:cNvPr id="13" name="Rectangle 12"/>
          <p:cNvSpPr/>
          <p:nvPr/>
        </p:nvSpPr>
        <p:spPr>
          <a:xfrm>
            <a:off x="594360" y="3657600"/>
            <a:ext cx="31750" cy="9144"/>
          </a:xfrm>
          <a:prstGeom prst="rect">
            <a:avLst/>
          </a:prstGeom>
          <a:solidFill>
            <a:srgbClr val="EA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31520" y="4937760"/>
            <a:ext cx="9601200" cy="9525"/>
          </a:xfrm>
          <a:prstGeom prst="rect">
            <a:avLst/>
          </a:prstGeom>
          <a:solidFill>
            <a:srgbClr val="D6D0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8640" y="5074920"/>
            <a:ext cx="10515600" cy="457200"/>
          </a:xfrm>
          <a:prstGeom prst="rect">
            <a:avLst/>
          </a:prstGeom>
          <a:noFill/>
        </p:spPr>
        <p:txBody>
          <a:bodyPr wrap="square">
            <a:spAutoFit/>
          </a:bodyPr>
          <a:lstStyle/>
          <a:p>
            <a:pPr algn="l">
              <a:spcBef>
                <a:spcPts val="0"/>
              </a:spcBef>
              <a:spcAft>
                <a:spcPts val="200"/>
              </a:spcAft>
            </a:pPr>
            <a:r>
              <a:rPr sz="1400" b="1" i="0">
                <a:solidFill>
                  <a:srgbClr val="1C1A16"/>
                </a:solidFill>
                <a:latin typeface="Segoe UI"/>
              </a:rPr>
              <a:t>The patient tells me their prior doctor "always" prescribed this and they'll go elsewhere if I change anything.</a:t>
            </a:r>
          </a:p>
        </p:txBody>
      </p:sp>
      <p:sp>
        <p:nvSpPr>
          <p:cNvPr id="16" name="TextBox 15"/>
          <p:cNvSpPr txBox="1"/>
          <p:nvPr/>
        </p:nvSpPr>
        <p:spPr>
          <a:xfrm>
            <a:off x="731520" y="5486400"/>
            <a:ext cx="10058400" cy="2743200"/>
          </a:xfrm>
          <a:prstGeom prst="rect">
            <a:avLst/>
          </a:prstGeom>
          <a:noFill/>
        </p:spPr>
        <p:txBody>
          <a:bodyPr wrap="square">
            <a:spAutoFit/>
          </a:bodyPr>
          <a:lstStyle/>
          <a:p>
            <a:pPr algn="l">
              <a:spcBef>
                <a:spcPts val="0"/>
              </a:spcBef>
              <a:spcAft>
                <a:spcPts val="600"/>
              </a:spcAft>
            </a:pPr>
            <a:r>
              <a:rPr sz="1200" b="0" i="0">
                <a:solidFill>
                  <a:srgbClr val="6B6560"/>
                </a:solidFill>
                <a:latin typeface="Segoe UI"/>
              </a:rPr>
              <a:t>Acknowledge the anxiety without making promises you can't keep: </a:t>
            </a:r>
            <a:r>
              <a:rPr sz="1200" b="0" i="1">
                <a:solidFill>
                  <a:srgbClr val="6B6560"/>
                </a:solidFill>
                <a:latin typeface="Segoe UI"/>
              </a:rPr>
              <a:t>"I understand this medication has been important to your quality of life and I'm not here to take anything away from you today. I do need to complete my own assessment as your new provider, and I want to make sure we're doing this in a way that protects you."</a:t>
            </a:r>
          </a:p>
          <a:p>
            <a:pPr algn="l">
              <a:spcBef>
                <a:spcPts val="0"/>
              </a:spcBef>
              <a:spcAft>
                <a:spcPts val="600"/>
              </a:spcAft>
            </a:pPr>
            <a:r>
              <a:rPr sz="1200" b="0" i="0">
                <a:solidFill>
                  <a:srgbClr val="6B6560"/>
                </a:solidFill>
                <a:latin typeface="Segoe UI"/>
              </a:rPr>
              <a:t>Do not let the threat of patient departure drive clinical decisions. Document the conversation.</a:t>
            </a:r>
          </a:p>
        </p:txBody>
      </p:sp>
      <p:sp>
        <p:nvSpPr>
          <p:cNvPr id="17" name="Rectangle 16"/>
          <p:cNvSpPr/>
          <p:nvPr/>
        </p:nvSpPr>
        <p:spPr>
          <a:xfrm>
            <a:off x="594360" y="5486400"/>
            <a:ext cx="31750" cy="9144"/>
          </a:xfrm>
          <a:prstGeom prst="rect">
            <a:avLst/>
          </a:prstGeom>
          <a:solidFill>
            <a:srgbClr val="EA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DFCF9"/>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1A5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731520" cy="320040"/>
          </a:xfrm>
          <a:prstGeom prst="rect">
            <a:avLst/>
          </a:prstGeom>
          <a:noFill/>
        </p:spPr>
        <p:txBody>
          <a:bodyPr wrap="square">
            <a:spAutoFit/>
          </a:bodyPr>
          <a:lstStyle/>
          <a:p>
            <a:pPr algn="ctr">
              <a:spcBef>
                <a:spcPts val="0"/>
              </a:spcBef>
              <a:spcAft>
                <a:spcPts val="400"/>
              </a:spcAft>
            </a:pPr>
            <a:r>
              <a:rPr sz="1400" b="1" i="0">
                <a:solidFill>
                  <a:srgbClr val="1A5C3A"/>
                </a:solidFill>
                <a:latin typeface="Segoe UI"/>
              </a:rPr>
              <a:t>F6</a:t>
            </a:r>
          </a:p>
        </p:txBody>
      </p:sp>
      <p:sp>
        <p:nvSpPr>
          <p:cNvPr id="4" name="Rectangle 3"/>
          <p:cNvSpPr/>
          <p:nvPr/>
        </p:nvSpPr>
        <p:spPr>
          <a:xfrm>
            <a:off x="502920" y="118872"/>
            <a:ext cx="594360" cy="3200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280160" y="109728"/>
            <a:ext cx="9144000" cy="274320"/>
          </a:xfrm>
          <a:prstGeom prst="rect">
            <a:avLst/>
          </a:prstGeom>
          <a:noFill/>
        </p:spPr>
        <p:txBody>
          <a:bodyPr wrap="square">
            <a:spAutoFit/>
          </a:bodyPr>
          <a:lstStyle/>
          <a:p>
            <a:pPr algn="l">
              <a:spcBef>
                <a:spcPts val="0"/>
              </a:spcBef>
              <a:spcAft>
                <a:spcPts val="400"/>
              </a:spcAft>
            </a:pPr>
            <a:r>
              <a:rPr sz="1000" b="0" i="0">
                <a:solidFill>
                  <a:srgbClr val="CCDDCC"/>
                </a:solidFill>
                <a:latin typeface="Segoe UI"/>
              </a:rPr>
              <a:t>OPIATE-BENZO COMBINATION</a:t>
            </a:r>
          </a:p>
        </p:txBody>
      </p:sp>
      <p:sp>
        <p:nvSpPr>
          <p:cNvPr id="6" name="TextBox 5"/>
          <p:cNvSpPr txBox="1"/>
          <p:nvPr/>
        </p:nvSpPr>
        <p:spPr>
          <a:xfrm>
            <a:off x="1280160" y="384048"/>
            <a:ext cx="9144000" cy="457200"/>
          </a:xfrm>
          <a:prstGeom prst="rect">
            <a:avLst/>
          </a:prstGeom>
          <a:noFill/>
        </p:spPr>
        <p:txBody>
          <a:bodyPr wrap="square">
            <a:spAutoFit/>
          </a:bodyPr>
          <a:lstStyle/>
          <a:p>
            <a:pPr algn="l">
              <a:spcBef>
                <a:spcPts val="0"/>
              </a:spcBef>
              <a:spcAft>
                <a:spcPts val="400"/>
              </a:spcAft>
            </a:pPr>
            <a:r>
              <a:rPr sz="1800" b="1" i="0">
                <a:solidFill>
                  <a:srgbClr val="FFFFFF"/>
                </a:solidFill>
                <a:latin typeface="Segoe UI"/>
              </a:rPr>
              <a:t>Concurrent opiates and benzodiazepines — the highest-risk scenario</a:t>
            </a:r>
          </a:p>
        </p:txBody>
      </p:sp>
      <p:sp>
        <p:nvSpPr>
          <p:cNvPr id="7" name="TextBox 6"/>
          <p:cNvSpPr txBox="1"/>
          <p:nvPr/>
        </p:nvSpPr>
        <p:spPr>
          <a:xfrm>
            <a:off x="548640" y="1188720"/>
            <a:ext cx="10515600" cy="457200"/>
          </a:xfrm>
          <a:prstGeom prst="rect">
            <a:avLst/>
          </a:prstGeom>
          <a:noFill/>
        </p:spPr>
        <p:txBody>
          <a:bodyPr wrap="square">
            <a:spAutoFit/>
          </a:bodyPr>
          <a:lstStyle/>
          <a:p>
            <a:pPr algn="l">
              <a:spcBef>
                <a:spcPts val="0"/>
              </a:spcBef>
              <a:spcAft>
                <a:spcPts val="200"/>
              </a:spcAft>
            </a:pPr>
            <a:r>
              <a:rPr sz="1400" b="1" i="0">
                <a:solidFill>
                  <a:srgbClr val="1C1A16"/>
                </a:solidFill>
                <a:latin typeface="Segoe UI"/>
              </a:rPr>
              <a:t>How dangerous is this combination?</a:t>
            </a:r>
          </a:p>
        </p:txBody>
      </p:sp>
      <p:sp>
        <p:nvSpPr>
          <p:cNvPr id="8" name="TextBox 7"/>
          <p:cNvSpPr txBox="1"/>
          <p:nvPr/>
        </p:nvSpPr>
        <p:spPr>
          <a:xfrm>
            <a:off x="731520" y="1600200"/>
            <a:ext cx="10058400" cy="2743200"/>
          </a:xfrm>
          <a:prstGeom prst="rect">
            <a:avLst/>
          </a:prstGeom>
          <a:noFill/>
        </p:spPr>
        <p:txBody>
          <a:bodyPr wrap="square">
            <a:spAutoFit/>
          </a:bodyPr>
          <a:lstStyle/>
          <a:p>
            <a:pPr algn="l">
              <a:spcBef>
                <a:spcPts val="0"/>
              </a:spcBef>
              <a:spcAft>
                <a:spcPts val="600"/>
              </a:spcAft>
            </a:pPr>
            <a:r>
              <a:rPr sz="1200" b="0" i="0">
                <a:solidFill>
                  <a:srgbClr val="6B6560"/>
                </a:solidFill>
                <a:latin typeface="Segoe UI"/>
              </a:rPr>
              <a:t>It is the most dangerous combination in outpatient prescribing. Concurrent opioid and benzodiazepine use increases overdose mortality risk by a factor of 3–4 compared to opioids alone. Both drug classes cause respiratory depression through different mechanisms — the combination is synergistic, not additive.</a:t>
            </a:r>
          </a:p>
          <a:p>
            <a:pPr algn="l">
              <a:spcBef>
                <a:spcPts val="0"/>
              </a:spcBef>
              <a:spcAft>
                <a:spcPts val="600"/>
              </a:spcAft>
            </a:pPr>
            <a:r>
              <a:rPr sz="1200" b="0" i="0">
                <a:solidFill>
                  <a:srgbClr val="6B6560"/>
                </a:solidFill>
                <a:latin typeface="Segoe UI"/>
              </a:rPr>
              <a:t>The FDA issued a black box warning on this combination in 2016. You cannot inherit this combination and continue it unchanged without a documented safety plan and specialist input.</a:t>
            </a:r>
          </a:p>
        </p:txBody>
      </p:sp>
      <p:sp>
        <p:nvSpPr>
          <p:cNvPr id="9" name="Rectangle 8"/>
          <p:cNvSpPr/>
          <p:nvPr/>
        </p:nvSpPr>
        <p:spPr>
          <a:xfrm>
            <a:off x="594360" y="1600200"/>
            <a:ext cx="31750" cy="9144"/>
          </a:xfrm>
          <a:prstGeom prst="rect">
            <a:avLst/>
          </a:prstGeom>
          <a:solidFill>
            <a:srgbClr val="EA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 y="3337560"/>
            <a:ext cx="9601200" cy="9525"/>
          </a:xfrm>
          <a:prstGeom prst="rect">
            <a:avLst/>
          </a:prstGeom>
          <a:solidFill>
            <a:srgbClr val="D6D0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3474720"/>
            <a:ext cx="10515600" cy="457200"/>
          </a:xfrm>
          <a:prstGeom prst="rect">
            <a:avLst/>
          </a:prstGeom>
          <a:noFill/>
        </p:spPr>
        <p:txBody>
          <a:bodyPr wrap="square">
            <a:spAutoFit/>
          </a:bodyPr>
          <a:lstStyle/>
          <a:p>
            <a:pPr algn="l">
              <a:spcBef>
                <a:spcPts val="0"/>
              </a:spcBef>
              <a:spcAft>
                <a:spcPts val="200"/>
              </a:spcAft>
            </a:pPr>
            <a:r>
              <a:rPr sz="1400" b="1" i="0">
                <a:solidFill>
                  <a:srgbClr val="1C1A16"/>
                </a:solidFill>
                <a:latin typeface="Segoe UI"/>
              </a:rPr>
              <a:t>The patient has legitimate indications for both. What do I do?</a:t>
            </a:r>
          </a:p>
        </p:txBody>
      </p:sp>
      <p:sp>
        <p:nvSpPr>
          <p:cNvPr id="12" name="TextBox 11"/>
          <p:cNvSpPr txBox="1"/>
          <p:nvPr/>
        </p:nvSpPr>
        <p:spPr>
          <a:xfrm>
            <a:off x="731520" y="3886200"/>
            <a:ext cx="10058400" cy="2743200"/>
          </a:xfrm>
          <a:prstGeom prst="rect">
            <a:avLst/>
          </a:prstGeom>
          <a:noFill/>
        </p:spPr>
        <p:txBody>
          <a:bodyPr wrap="square">
            <a:spAutoFit/>
          </a:bodyPr>
          <a:lstStyle/>
          <a:p>
            <a:pPr algn="l">
              <a:spcBef>
                <a:spcPts val="0"/>
              </a:spcBef>
              <a:spcAft>
                <a:spcPts val="600"/>
              </a:spcAft>
            </a:pPr>
            <a:r>
              <a:rPr sz="1200" b="0" i="0">
                <a:solidFill>
                  <a:srgbClr val="6B6560"/>
                </a:solidFill>
                <a:latin typeface="Segoe UI"/>
              </a:rPr>
              <a:t>This is precisely the e-consult scenario. The question is not whether either medication is individually justified — it is whether the combination is the safest available approach given the full clinical picture. Psychiatry or pain management input, depending on which medication is driving the combination, is required before you own both prescriptions.</a:t>
            </a:r>
          </a:p>
          <a:p>
            <a:pPr algn="l">
              <a:spcBef>
                <a:spcPts val="0"/>
              </a:spcBef>
              <a:spcAft>
                <a:spcPts val="600"/>
              </a:spcAft>
            </a:pPr>
            <a:r>
              <a:rPr sz="1200" b="0" i="0">
                <a:solidFill>
                  <a:srgbClr val="6B6560"/>
                </a:solidFill>
                <a:latin typeface="Segoe UI"/>
              </a:rPr>
              <a:t>At this visit: prescribe whichever is the more immediately necessary (typically the opiate if chronic pain is the primary indication), document the combination as a known risk, prescribe naloxone, and initiate the e-consult urgently.</a:t>
            </a:r>
          </a:p>
        </p:txBody>
      </p:sp>
      <p:sp>
        <p:nvSpPr>
          <p:cNvPr id="13" name="Rectangle 12"/>
          <p:cNvSpPr/>
          <p:nvPr/>
        </p:nvSpPr>
        <p:spPr>
          <a:xfrm>
            <a:off x="594360" y="3886200"/>
            <a:ext cx="31750" cy="9144"/>
          </a:xfrm>
          <a:prstGeom prst="rect">
            <a:avLst/>
          </a:prstGeom>
          <a:solidFill>
            <a:srgbClr val="EA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31520" y="5852160"/>
            <a:ext cx="9601200" cy="9525"/>
          </a:xfrm>
          <a:prstGeom prst="rect">
            <a:avLst/>
          </a:prstGeom>
          <a:solidFill>
            <a:srgbClr val="D6D0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8640" y="5989320"/>
            <a:ext cx="10515600" cy="457200"/>
          </a:xfrm>
          <a:prstGeom prst="rect">
            <a:avLst/>
          </a:prstGeom>
          <a:noFill/>
        </p:spPr>
        <p:txBody>
          <a:bodyPr wrap="square">
            <a:spAutoFit/>
          </a:bodyPr>
          <a:lstStyle/>
          <a:p>
            <a:pPr algn="l">
              <a:spcBef>
                <a:spcPts val="0"/>
              </a:spcBef>
              <a:spcAft>
                <a:spcPts val="200"/>
              </a:spcAft>
            </a:pPr>
            <a:r>
              <a:rPr sz="1400" b="1" i="0">
                <a:solidFill>
                  <a:srgbClr val="1C1A16"/>
                </a:solidFill>
                <a:latin typeface="Segoe UI"/>
              </a:rPr>
              <a:t>Can I just taper the benzo?</a:t>
            </a:r>
          </a:p>
        </p:txBody>
      </p:sp>
      <p:sp>
        <p:nvSpPr>
          <p:cNvPr id="16" name="TextBox 15"/>
          <p:cNvSpPr txBox="1"/>
          <p:nvPr/>
        </p:nvSpPr>
        <p:spPr>
          <a:xfrm>
            <a:off x="731520" y="6400800"/>
            <a:ext cx="10058400" cy="2743200"/>
          </a:xfrm>
          <a:prstGeom prst="rect">
            <a:avLst/>
          </a:prstGeom>
          <a:noFill/>
        </p:spPr>
        <p:txBody>
          <a:bodyPr wrap="square">
            <a:spAutoFit/>
          </a:bodyPr>
          <a:lstStyle/>
          <a:p>
            <a:pPr algn="l">
              <a:spcBef>
                <a:spcPts val="0"/>
              </a:spcBef>
              <a:spcAft>
                <a:spcPts val="600"/>
              </a:spcAft>
            </a:pPr>
            <a:r>
              <a:rPr sz="1200" b="0" i="0">
                <a:solidFill>
                  <a:srgbClr val="6B6560"/>
                </a:solidFill>
                <a:latin typeface="Segoe UI"/>
              </a:rPr>
              <a:t>Benzo taper in the context of chronic use requires its own careful management and is not something to initiate unilaterally at a first visit. A patient on chronic benzodiazepines is physically dependent — abrupt reduction risks withdrawal seizure.</a:t>
            </a:r>
          </a:p>
          <a:p>
            <a:pPr algn="l">
              <a:spcBef>
                <a:spcPts val="0"/>
              </a:spcBef>
              <a:spcAft>
                <a:spcPts val="600"/>
              </a:spcAft>
            </a:pPr>
            <a:r>
              <a:rPr sz="1200" b="0" i="0">
                <a:solidFill>
                  <a:srgbClr val="6B6560"/>
                </a:solidFill>
                <a:latin typeface="Segoe UI"/>
              </a:rPr>
              <a:t>The taper plan should be coordinated, ideally with psychiatry input, and should be separate from the opiate management conversation so the patient is not facing two simultaneous tapers.</a:t>
            </a:r>
          </a:p>
        </p:txBody>
      </p:sp>
      <p:sp>
        <p:nvSpPr>
          <p:cNvPr id="17" name="Rectangle 16"/>
          <p:cNvSpPr/>
          <p:nvPr/>
        </p:nvSpPr>
        <p:spPr>
          <a:xfrm>
            <a:off x="594360" y="6400800"/>
            <a:ext cx="31750" cy="9144"/>
          </a:xfrm>
          <a:prstGeom prst="rect">
            <a:avLst/>
          </a:prstGeom>
          <a:solidFill>
            <a:srgbClr val="EA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DFCF9"/>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1A5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731520" cy="320040"/>
          </a:xfrm>
          <a:prstGeom prst="rect">
            <a:avLst/>
          </a:prstGeom>
          <a:noFill/>
        </p:spPr>
        <p:txBody>
          <a:bodyPr wrap="square">
            <a:spAutoFit/>
          </a:bodyPr>
          <a:lstStyle/>
          <a:p>
            <a:pPr algn="ctr">
              <a:spcBef>
                <a:spcPts val="0"/>
              </a:spcBef>
              <a:spcAft>
                <a:spcPts val="400"/>
              </a:spcAft>
            </a:pPr>
            <a:r>
              <a:rPr sz="1400" b="1" i="0">
                <a:solidFill>
                  <a:srgbClr val="1A5C3A"/>
                </a:solidFill>
                <a:latin typeface="Segoe UI"/>
              </a:rPr>
              <a:t>F7</a:t>
            </a:r>
          </a:p>
        </p:txBody>
      </p:sp>
      <p:sp>
        <p:nvSpPr>
          <p:cNvPr id="4" name="Rectangle 3"/>
          <p:cNvSpPr/>
          <p:nvPr/>
        </p:nvSpPr>
        <p:spPr>
          <a:xfrm>
            <a:off x="502920" y="118872"/>
            <a:ext cx="594360" cy="3200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280160" y="109728"/>
            <a:ext cx="9144000" cy="274320"/>
          </a:xfrm>
          <a:prstGeom prst="rect">
            <a:avLst/>
          </a:prstGeom>
          <a:noFill/>
        </p:spPr>
        <p:txBody>
          <a:bodyPr wrap="square">
            <a:spAutoFit/>
          </a:bodyPr>
          <a:lstStyle/>
          <a:p>
            <a:pPr algn="l">
              <a:spcBef>
                <a:spcPts val="0"/>
              </a:spcBef>
              <a:spcAft>
                <a:spcPts val="400"/>
              </a:spcAft>
            </a:pPr>
            <a:r>
              <a:rPr sz="1000" b="0" i="0">
                <a:solidFill>
                  <a:srgbClr val="CCDDCC"/>
                </a:solidFill>
                <a:latin typeface="Segoe UI"/>
              </a:rPr>
              <a:t>UNEXPECTED UDS RESULTS</a:t>
            </a:r>
          </a:p>
        </p:txBody>
      </p:sp>
      <p:sp>
        <p:nvSpPr>
          <p:cNvPr id="6" name="TextBox 5"/>
          <p:cNvSpPr txBox="1"/>
          <p:nvPr/>
        </p:nvSpPr>
        <p:spPr>
          <a:xfrm>
            <a:off x="1280160" y="384048"/>
            <a:ext cx="9144000" cy="457200"/>
          </a:xfrm>
          <a:prstGeom prst="rect">
            <a:avLst/>
          </a:prstGeom>
          <a:noFill/>
        </p:spPr>
        <p:txBody>
          <a:bodyPr wrap="square">
            <a:spAutoFit/>
          </a:bodyPr>
          <a:lstStyle/>
          <a:p>
            <a:pPr algn="l">
              <a:spcBef>
                <a:spcPts val="0"/>
              </a:spcBef>
              <a:spcAft>
                <a:spcPts val="400"/>
              </a:spcAft>
            </a:pPr>
            <a:r>
              <a:rPr sz="1800" b="1" i="0">
                <a:solidFill>
                  <a:srgbClr val="FFFFFF"/>
                </a:solidFill>
                <a:latin typeface="Segoe UI"/>
              </a:rPr>
              <a:t>UDS shows something unexpected — next steps</a:t>
            </a:r>
          </a:p>
        </p:txBody>
      </p:sp>
      <p:sp>
        <p:nvSpPr>
          <p:cNvPr id="7" name="TextBox 6"/>
          <p:cNvSpPr txBox="1"/>
          <p:nvPr/>
        </p:nvSpPr>
        <p:spPr>
          <a:xfrm>
            <a:off x="548640" y="1188720"/>
            <a:ext cx="10515600" cy="457200"/>
          </a:xfrm>
          <a:prstGeom prst="rect">
            <a:avLst/>
          </a:prstGeom>
          <a:noFill/>
        </p:spPr>
        <p:txBody>
          <a:bodyPr wrap="square">
            <a:spAutoFit/>
          </a:bodyPr>
          <a:lstStyle/>
          <a:p>
            <a:pPr algn="l">
              <a:spcBef>
                <a:spcPts val="0"/>
              </a:spcBef>
              <a:spcAft>
                <a:spcPts val="200"/>
              </a:spcAft>
            </a:pPr>
            <a:r>
              <a:rPr sz="1400" b="1" i="0">
                <a:solidFill>
                  <a:srgbClr val="1C1A16"/>
                </a:solidFill>
                <a:latin typeface="Segoe UI"/>
              </a:rPr>
              <a:t>The UDS is positive for cocaine. Do I stop the opiate today?</a:t>
            </a:r>
          </a:p>
        </p:txBody>
      </p:sp>
      <p:sp>
        <p:nvSpPr>
          <p:cNvPr id="8" name="TextBox 7"/>
          <p:cNvSpPr txBox="1"/>
          <p:nvPr/>
        </p:nvSpPr>
        <p:spPr>
          <a:xfrm>
            <a:off x="731520" y="1600200"/>
            <a:ext cx="10058400" cy="2743200"/>
          </a:xfrm>
          <a:prstGeom prst="rect">
            <a:avLst/>
          </a:prstGeom>
          <a:noFill/>
        </p:spPr>
        <p:txBody>
          <a:bodyPr wrap="square">
            <a:spAutoFit/>
          </a:bodyPr>
          <a:lstStyle/>
          <a:p>
            <a:pPr algn="l">
              <a:spcBef>
                <a:spcPts val="0"/>
              </a:spcBef>
              <a:spcAft>
                <a:spcPts val="600"/>
              </a:spcAft>
            </a:pPr>
            <a:r>
              <a:rPr sz="1200" b="0" i="0">
                <a:solidFill>
                  <a:srgbClr val="6B6560"/>
                </a:solidFill>
                <a:latin typeface="Segoe UI"/>
              </a:rPr>
              <a:t>Confirm with send-out testing before taking action. If confirmed: do not prescribe at this visit. Have a direct, non-punitive conversation focused on safety: </a:t>
            </a:r>
            <a:r>
              <a:rPr sz="1200" b="0" i="1">
                <a:solidFill>
                  <a:srgbClr val="6B6560"/>
                </a:solidFill>
                <a:latin typeface="Segoe UI"/>
              </a:rPr>
              <a:t>"I'm concerned about your safety if we combine these substances."</a:t>
            </a:r>
            <a:r>
              <a:rPr sz="1200" b="0" i="0">
                <a:solidFill>
                  <a:srgbClr val="6B6560"/>
                </a:solidFill>
                <a:latin typeface="Segoe UI"/>
              </a:rPr>
              <a:t> Document the conversation.</a:t>
            </a:r>
          </a:p>
          <a:p>
            <a:pPr algn="l">
              <a:spcBef>
                <a:spcPts val="0"/>
              </a:spcBef>
              <a:spcAft>
                <a:spcPts val="600"/>
              </a:spcAft>
            </a:pPr>
            <a:r>
              <a:rPr sz="1200" b="0" i="0">
                <a:solidFill>
                  <a:srgbClr val="6B6560"/>
                </a:solidFill>
                <a:latin typeface="Segoe UI"/>
              </a:rPr>
              <a:t>This is an OUD evaluation trigger — consider whether what you're seeing is active substance use disorder that warrants MOUD rather than simply discontinuing the opiate. A patient with OUD who is cut off from prescribed opioids without treatment is at significantly elevated overdose risk from illicit opioid use.</a:t>
            </a:r>
          </a:p>
        </p:txBody>
      </p:sp>
      <p:sp>
        <p:nvSpPr>
          <p:cNvPr id="9" name="Rectangle 8"/>
          <p:cNvSpPr/>
          <p:nvPr/>
        </p:nvSpPr>
        <p:spPr>
          <a:xfrm>
            <a:off x="594360" y="1600200"/>
            <a:ext cx="31750" cy="9144"/>
          </a:xfrm>
          <a:prstGeom prst="rect">
            <a:avLst/>
          </a:prstGeom>
          <a:solidFill>
            <a:srgbClr val="EA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 y="3566160"/>
            <a:ext cx="9601200" cy="9525"/>
          </a:xfrm>
          <a:prstGeom prst="rect">
            <a:avLst/>
          </a:prstGeom>
          <a:solidFill>
            <a:srgbClr val="D6D0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3703320"/>
            <a:ext cx="10515600" cy="457200"/>
          </a:xfrm>
          <a:prstGeom prst="rect">
            <a:avLst/>
          </a:prstGeom>
          <a:noFill/>
        </p:spPr>
        <p:txBody>
          <a:bodyPr wrap="square">
            <a:spAutoFit/>
          </a:bodyPr>
          <a:lstStyle/>
          <a:p>
            <a:pPr algn="l">
              <a:spcBef>
                <a:spcPts val="0"/>
              </a:spcBef>
              <a:spcAft>
                <a:spcPts val="200"/>
              </a:spcAft>
            </a:pPr>
            <a:r>
              <a:rPr sz="1400" b="1" i="0">
                <a:solidFill>
                  <a:srgbClr val="1C1A16"/>
                </a:solidFill>
                <a:latin typeface="Segoe UI"/>
              </a:rPr>
              <a:t>The UDS is positive for fentanyl but the patient is not prescribed it.</a:t>
            </a:r>
          </a:p>
        </p:txBody>
      </p:sp>
      <p:sp>
        <p:nvSpPr>
          <p:cNvPr id="12" name="TextBox 11"/>
          <p:cNvSpPr txBox="1"/>
          <p:nvPr/>
        </p:nvSpPr>
        <p:spPr>
          <a:xfrm>
            <a:off x="731520" y="4114800"/>
            <a:ext cx="10058400" cy="2743200"/>
          </a:xfrm>
          <a:prstGeom prst="rect">
            <a:avLst/>
          </a:prstGeom>
          <a:noFill/>
        </p:spPr>
        <p:txBody>
          <a:bodyPr wrap="square">
            <a:spAutoFit/>
          </a:bodyPr>
          <a:lstStyle/>
          <a:p>
            <a:pPr algn="l">
              <a:spcBef>
                <a:spcPts val="0"/>
              </a:spcBef>
              <a:spcAft>
                <a:spcPts val="600"/>
              </a:spcAft>
            </a:pPr>
            <a:r>
              <a:rPr sz="1200" b="0" i="0">
                <a:solidFill>
                  <a:srgbClr val="6B6560"/>
                </a:solidFill>
                <a:latin typeface="Segoe UI"/>
              </a:rPr>
              <a:t>This is a high-acuity finding. Illicit fentanyl exposure indicates the patient is using street opioids — either supplementing their prescription or substituting for it. This is an OUD evaluation and MOUD conversation, not a straightforward prescription continuation decision.</a:t>
            </a:r>
          </a:p>
          <a:p>
            <a:pPr algn="l">
              <a:spcBef>
                <a:spcPts val="0"/>
              </a:spcBef>
              <a:spcAft>
                <a:spcPts val="600"/>
              </a:spcAft>
            </a:pPr>
            <a:r>
              <a:rPr sz="1200" b="0" i="0">
                <a:solidFill>
                  <a:srgbClr val="6B6560"/>
                </a:solidFill>
                <a:latin typeface="Segoe UI"/>
              </a:rPr>
              <a:t>Do not prescribe additional controlled substances at this visit. Engage with empathy: the patient is at serious overdose risk and needs treatment, not termination from the practice.</a:t>
            </a:r>
          </a:p>
        </p:txBody>
      </p:sp>
      <p:sp>
        <p:nvSpPr>
          <p:cNvPr id="13" name="Rectangle 12"/>
          <p:cNvSpPr/>
          <p:nvPr/>
        </p:nvSpPr>
        <p:spPr>
          <a:xfrm>
            <a:off x="594360" y="4114800"/>
            <a:ext cx="31750" cy="9144"/>
          </a:xfrm>
          <a:prstGeom prst="rect">
            <a:avLst/>
          </a:prstGeom>
          <a:solidFill>
            <a:srgbClr val="EA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31520" y="5852160"/>
            <a:ext cx="9601200" cy="9525"/>
          </a:xfrm>
          <a:prstGeom prst="rect">
            <a:avLst/>
          </a:prstGeom>
          <a:solidFill>
            <a:srgbClr val="D6D0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DFCF9"/>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1A5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731520" cy="320040"/>
          </a:xfrm>
          <a:prstGeom prst="rect">
            <a:avLst/>
          </a:prstGeom>
          <a:noFill/>
        </p:spPr>
        <p:txBody>
          <a:bodyPr wrap="square">
            <a:spAutoFit/>
          </a:bodyPr>
          <a:lstStyle/>
          <a:p>
            <a:pPr algn="ctr">
              <a:spcBef>
                <a:spcPts val="0"/>
              </a:spcBef>
              <a:spcAft>
                <a:spcPts val="400"/>
              </a:spcAft>
            </a:pPr>
            <a:r>
              <a:rPr sz="1400" b="1" i="0">
                <a:solidFill>
                  <a:srgbClr val="1A5C3A"/>
                </a:solidFill>
                <a:latin typeface="Segoe UI"/>
              </a:rPr>
              <a:t>F8</a:t>
            </a:r>
          </a:p>
        </p:txBody>
      </p:sp>
      <p:sp>
        <p:nvSpPr>
          <p:cNvPr id="4" name="Rectangle 3"/>
          <p:cNvSpPr/>
          <p:nvPr/>
        </p:nvSpPr>
        <p:spPr>
          <a:xfrm>
            <a:off x="502920" y="118872"/>
            <a:ext cx="594360" cy="3200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280160" y="109728"/>
            <a:ext cx="9144000" cy="274320"/>
          </a:xfrm>
          <a:prstGeom prst="rect">
            <a:avLst/>
          </a:prstGeom>
          <a:noFill/>
        </p:spPr>
        <p:txBody>
          <a:bodyPr wrap="square">
            <a:spAutoFit/>
          </a:bodyPr>
          <a:lstStyle/>
          <a:p>
            <a:pPr algn="l">
              <a:spcBef>
                <a:spcPts val="0"/>
              </a:spcBef>
              <a:spcAft>
                <a:spcPts val="400"/>
              </a:spcAft>
            </a:pPr>
            <a:r>
              <a:rPr sz="1000" b="0" i="0">
                <a:solidFill>
                  <a:srgbClr val="CCDDCC"/>
                </a:solidFill>
                <a:latin typeface="Segoe UI"/>
              </a:rPr>
              <a:t>PDMP RED FLAGS</a:t>
            </a:r>
          </a:p>
        </p:txBody>
      </p:sp>
      <p:sp>
        <p:nvSpPr>
          <p:cNvPr id="6" name="TextBox 5"/>
          <p:cNvSpPr txBox="1"/>
          <p:nvPr/>
        </p:nvSpPr>
        <p:spPr>
          <a:xfrm>
            <a:off x="1280160" y="384048"/>
            <a:ext cx="9144000" cy="457200"/>
          </a:xfrm>
          <a:prstGeom prst="rect">
            <a:avLst/>
          </a:prstGeom>
          <a:noFill/>
        </p:spPr>
        <p:txBody>
          <a:bodyPr wrap="square">
            <a:spAutoFit/>
          </a:bodyPr>
          <a:lstStyle/>
          <a:p>
            <a:pPr algn="l">
              <a:spcBef>
                <a:spcPts val="0"/>
              </a:spcBef>
              <a:spcAft>
                <a:spcPts val="400"/>
              </a:spcAft>
            </a:pPr>
            <a:r>
              <a:rPr sz="1800" b="1" i="0">
                <a:solidFill>
                  <a:srgbClr val="FFFFFF"/>
                </a:solidFill>
                <a:latin typeface="Segoe UI"/>
              </a:rPr>
              <a:t>Concerning PDMP patterns — how to respond</a:t>
            </a:r>
          </a:p>
        </p:txBody>
      </p:sp>
      <p:sp>
        <p:nvSpPr>
          <p:cNvPr id="7" name="TextBox 6"/>
          <p:cNvSpPr txBox="1"/>
          <p:nvPr/>
        </p:nvSpPr>
        <p:spPr>
          <a:xfrm>
            <a:off x="548640" y="1188720"/>
            <a:ext cx="10515600" cy="457200"/>
          </a:xfrm>
          <a:prstGeom prst="rect">
            <a:avLst/>
          </a:prstGeom>
          <a:noFill/>
        </p:spPr>
        <p:txBody>
          <a:bodyPr wrap="square">
            <a:spAutoFit/>
          </a:bodyPr>
          <a:lstStyle/>
          <a:p>
            <a:pPr algn="l">
              <a:spcBef>
                <a:spcPts val="0"/>
              </a:spcBef>
              <a:spcAft>
                <a:spcPts val="200"/>
              </a:spcAft>
            </a:pPr>
            <a:r>
              <a:rPr sz="1400" b="1" i="0">
                <a:solidFill>
                  <a:srgbClr val="1C1A16"/>
                </a:solidFill>
                <a:latin typeface="Segoe UI"/>
              </a:rPr>
              <a:t>I see fills from three different pharmacies. Is that diversion?</a:t>
            </a:r>
          </a:p>
        </p:txBody>
      </p:sp>
      <p:sp>
        <p:nvSpPr>
          <p:cNvPr id="8" name="TextBox 7"/>
          <p:cNvSpPr txBox="1"/>
          <p:nvPr/>
        </p:nvSpPr>
        <p:spPr>
          <a:xfrm>
            <a:off x="731520" y="1600200"/>
            <a:ext cx="10058400" cy="2743200"/>
          </a:xfrm>
          <a:prstGeom prst="rect">
            <a:avLst/>
          </a:prstGeom>
          <a:noFill/>
        </p:spPr>
        <p:txBody>
          <a:bodyPr wrap="square">
            <a:spAutoFit/>
          </a:bodyPr>
          <a:lstStyle/>
          <a:p>
            <a:pPr algn="l">
              <a:spcBef>
                <a:spcPts val="0"/>
              </a:spcBef>
              <a:spcAft>
                <a:spcPts val="600"/>
              </a:spcAft>
            </a:pPr>
            <a:r>
              <a:rPr sz="1200" b="0" i="0">
                <a:solidFill>
                  <a:srgbClr val="6B6560"/>
                </a:solidFill>
                <a:latin typeface="Segoe UI"/>
              </a:rPr>
              <a:t>It is a red flag that requires explanation — it is not a confirmed finding. Ask directly and document the answer. Geographic reasons (pharmacy closures, travel, insurance network restrictions) are plausible. A pattern of cash-pay fills at multiple locations without a coherent explanation is more concerning.</a:t>
            </a:r>
          </a:p>
          <a:p>
            <a:pPr algn="l">
              <a:spcBef>
                <a:spcPts val="0"/>
              </a:spcBef>
              <a:spcAft>
                <a:spcPts val="600"/>
              </a:spcAft>
            </a:pPr>
            <a:r>
              <a:rPr sz="1200" b="0" i="0">
                <a:solidFill>
                  <a:srgbClr val="6B6560"/>
                </a:solidFill>
                <a:latin typeface="Segoe UI"/>
              </a:rPr>
              <a:t>Confirm with send-out UDS to establish whether the patient is actually taking the medication. If the pattern is unexplained and confirmed, this is a case for e-consult before continuing.</a:t>
            </a:r>
          </a:p>
        </p:txBody>
      </p:sp>
      <p:sp>
        <p:nvSpPr>
          <p:cNvPr id="9" name="Rectangle 8"/>
          <p:cNvSpPr/>
          <p:nvPr/>
        </p:nvSpPr>
        <p:spPr>
          <a:xfrm>
            <a:off x="594360" y="1600200"/>
            <a:ext cx="31750" cy="9144"/>
          </a:xfrm>
          <a:prstGeom prst="rect">
            <a:avLst/>
          </a:prstGeom>
          <a:solidFill>
            <a:srgbClr val="EA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 y="3337560"/>
            <a:ext cx="9601200" cy="9525"/>
          </a:xfrm>
          <a:prstGeom prst="rect">
            <a:avLst/>
          </a:prstGeom>
          <a:solidFill>
            <a:srgbClr val="D6D0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3474720"/>
            <a:ext cx="10515600" cy="457200"/>
          </a:xfrm>
          <a:prstGeom prst="rect">
            <a:avLst/>
          </a:prstGeom>
          <a:noFill/>
        </p:spPr>
        <p:txBody>
          <a:bodyPr wrap="square">
            <a:spAutoFit/>
          </a:bodyPr>
          <a:lstStyle/>
          <a:p>
            <a:pPr algn="l">
              <a:spcBef>
                <a:spcPts val="0"/>
              </a:spcBef>
              <a:spcAft>
                <a:spcPts val="200"/>
              </a:spcAft>
            </a:pPr>
            <a:r>
              <a:rPr sz="1400" b="1" i="0">
                <a:solidFill>
                  <a:srgbClr val="1C1A16"/>
                </a:solidFill>
                <a:latin typeface="Segoe UI"/>
              </a:rPr>
              <a:t>What do I document when I find a PDMP concern?</a:t>
            </a:r>
          </a:p>
        </p:txBody>
      </p:sp>
      <p:sp>
        <p:nvSpPr>
          <p:cNvPr id="12" name="TextBox 11"/>
          <p:cNvSpPr txBox="1"/>
          <p:nvPr/>
        </p:nvSpPr>
        <p:spPr>
          <a:xfrm>
            <a:off x="731520" y="3886200"/>
            <a:ext cx="10058400" cy="2743200"/>
          </a:xfrm>
          <a:prstGeom prst="rect">
            <a:avLst/>
          </a:prstGeom>
          <a:noFill/>
        </p:spPr>
        <p:txBody>
          <a:bodyPr wrap="square">
            <a:spAutoFit/>
          </a:bodyPr>
          <a:lstStyle/>
          <a:p>
            <a:pPr algn="l">
              <a:spcBef>
                <a:spcPts val="0"/>
              </a:spcBef>
              <a:spcAft>
                <a:spcPts val="600"/>
              </a:spcAft>
            </a:pPr>
            <a:r>
              <a:rPr sz="1200" b="0" i="0">
                <a:solidFill>
                  <a:srgbClr val="6B6560"/>
                </a:solidFill>
                <a:latin typeface="Segoe UI"/>
              </a:rPr>
              <a:t>Document exactly what you found (dates, prescribers, pharmacies, quantities), what you asked the patient, what they told you, and what your clinical assessment is. This documentation protects you regardless of what you decide.</a:t>
            </a:r>
          </a:p>
          <a:p>
            <a:pPr algn="l">
              <a:spcBef>
                <a:spcPts val="0"/>
              </a:spcBef>
              <a:spcAft>
                <a:spcPts val="600"/>
              </a:spcAft>
            </a:pPr>
            <a:r>
              <a:rPr sz="1200" b="0" i="0">
                <a:solidFill>
                  <a:srgbClr val="6B6560"/>
                </a:solidFill>
                <a:latin typeface="Segoe UI"/>
              </a:rPr>
              <a:t>If you choose to continue prescribing despite a flag, document your reasoning. If you choose not to prescribe, document your safety plan for the patient.</a:t>
            </a:r>
          </a:p>
        </p:txBody>
      </p:sp>
      <p:sp>
        <p:nvSpPr>
          <p:cNvPr id="13" name="Rectangle 12"/>
          <p:cNvSpPr/>
          <p:nvPr/>
        </p:nvSpPr>
        <p:spPr>
          <a:xfrm>
            <a:off x="594360" y="3886200"/>
            <a:ext cx="31750" cy="9144"/>
          </a:xfrm>
          <a:prstGeom prst="rect">
            <a:avLst/>
          </a:prstGeom>
          <a:solidFill>
            <a:srgbClr val="EA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31520" y="5394960"/>
            <a:ext cx="9601200" cy="9525"/>
          </a:xfrm>
          <a:prstGeom prst="rect">
            <a:avLst/>
          </a:prstGeom>
          <a:solidFill>
            <a:srgbClr val="D6D0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DFCF9"/>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1A5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731520" cy="320040"/>
          </a:xfrm>
          <a:prstGeom prst="rect">
            <a:avLst/>
          </a:prstGeom>
          <a:noFill/>
        </p:spPr>
        <p:txBody>
          <a:bodyPr wrap="square">
            <a:spAutoFit/>
          </a:bodyPr>
          <a:lstStyle/>
          <a:p>
            <a:pPr algn="ctr">
              <a:spcBef>
                <a:spcPts val="0"/>
              </a:spcBef>
              <a:spcAft>
                <a:spcPts val="400"/>
              </a:spcAft>
            </a:pPr>
            <a:r>
              <a:rPr sz="1400" b="1" i="0">
                <a:solidFill>
                  <a:srgbClr val="1A5C3A"/>
                </a:solidFill>
                <a:latin typeface="Segoe UI"/>
              </a:rPr>
              <a:t>F9</a:t>
            </a:r>
          </a:p>
        </p:txBody>
      </p:sp>
      <p:sp>
        <p:nvSpPr>
          <p:cNvPr id="4" name="Rectangle 3"/>
          <p:cNvSpPr/>
          <p:nvPr/>
        </p:nvSpPr>
        <p:spPr>
          <a:xfrm>
            <a:off x="502920" y="118872"/>
            <a:ext cx="594360" cy="3200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280160" y="109728"/>
            <a:ext cx="9144000" cy="274320"/>
          </a:xfrm>
          <a:prstGeom prst="rect">
            <a:avLst/>
          </a:prstGeom>
          <a:noFill/>
        </p:spPr>
        <p:txBody>
          <a:bodyPr wrap="square">
            <a:spAutoFit/>
          </a:bodyPr>
          <a:lstStyle/>
          <a:p>
            <a:pPr algn="l">
              <a:spcBef>
                <a:spcPts val="0"/>
              </a:spcBef>
              <a:spcAft>
                <a:spcPts val="400"/>
              </a:spcAft>
            </a:pPr>
            <a:r>
              <a:rPr sz="1000" b="0" i="0">
                <a:solidFill>
                  <a:srgbClr val="CCDDCC"/>
                </a:solidFill>
                <a:latin typeface="Segoe UI"/>
              </a:rPr>
              <a:t>BEHAVIORAL CONCERNS</a:t>
            </a:r>
          </a:p>
        </p:txBody>
      </p:sp>
      <p:sp>
        <p:nvSpPr>
          <p:cNvPr id="6" name="TextBox 5"/>
          <p:cNvSpPr txBox="1"/>
          <p:nvPr/>
        </p:nvSpPr>
        <p:spPr>
          <a:xfrm>
            <a:off x="1280160" y="384048"/>
            <a:ext cx="9144000" cy="457200"/>
          </a:xfrm>
          <a:prstGeom prst="rect">
            <a:avLst/>
          </a:prstGeom>
          <a:noFill/>
        </p:spPr>
        <p:txBody>
          <a:bodyPr wrap="square">
            <a:spAutoFit/>
          </a:bodyPr>
          <a:lstStyle/>
          <a:p>
            <a:pPr algn="l">
              <a:spcBef>
                <a:spcPts val="0"/>
              </a:spcBef>
              <a:spcAft>
                <a:spcPts val="400"/>
              </a:spcAft>
            </a:pPr>
            <a:r>
              <a:rPr sz="1800" b="1" i="0">
                <a:solidFill>
                  <a:srgbClr val="FFFFFF"/>
                </a:solidFill>
                <a:latin typeface="Segoe UI"/>
              </a:rPr>
              <a:t>Early refills, lost medications, escalating contact</a:t>
            </a:r>
          </a:p>
        </p:txBody>
      </p:sp>
      <p:sp>
        <p:nvSpPr>
          <p:cNvPr id="7" name="TextBox 6"/>
          <p:cNvSpPr txBox="1"/>
          <p:nvPr/>
        </p:nvSpPr>
        <p:spPr>
          <a:xfrm>
            <a:off x="548640" y="1188720"/>
            <a:ext cx="10515600" cy="457200"/>
          </a:xfrm>
          <a:prstGeom prst="rect">
            <a:avLst/>
          </a:prstGeom>
          <a:noFill/>
        </p:spPr>
        <p:txBody>
          <a:bodyPr wrap="square">
            <a:spAutoFit/>
          </a:bodyPr>
          <a:lstStyle/>
          <a:p>
            <a:pPr algn="l">
              <a:spcBef>
                <a:spcPts val="0"/>
              </a:spcBef>
              <a:spcAft>
                <a:spcPts val="200"/>
              </a:spcAft>
            </a:pPr>
            <a:r>
              <a:rPr sz="1400" b="1" i="0">
                <a:solidFill>
                  <a:srgbClr val="1C1A16"/>
                </a:solidFill>
                <a:latin typeface="Segoe UI"/>
              </a:rPr>
              <a:t>How many early refill requests trigger a formal response?</a:t>
            </a:r>
          </a:p>
        </p:txBody>
      </p:sp>
      <p:sp>
        <p:nvSpPr>
          <p:cNvPr id="8" name="TextBox 7"/>
          <p:cNvSpPr txBox="1"/>
          <p:nvPr/>
        </p:nvSpPr>
        <p:spPr>
          <a:xfrm>
            <a:off x="731520" y="1600200"/>
            <a:ext cx="10058400" cy="2743200"/>
          </a:xfrm>
          <a:prstGeom prst="rect">
            <a:avLst/>
          </a:prstGeom>
          <a:noFill/>
        </p:spPr>
        <p:txBody>
          <a:bodyPr wrap="square">
            <a:spAutoFit/>
          </a:bodyPr>
          <a:lstStyle/>
          <a:p>
            <a:pPr algn="l">
              <a:spcBef>
                <a:spcPts val="0"/>
              </a:spcBef>
              <a:spcAft>
                <a:spcPts val="600"/>
              </a:spcAft>
            </a:pPr>
            <a:r>
              <a:rPr sz="1100" b="1" i="0">
                <a:solidFill>
                  <a:srgbClr val="6B6560"/>
                </a:solidFill>
                <a:latin typeface="Segoe UI"/>
              </a:rPr>
              <a:t>[1 request]</a:t>
            </a:r>
            <a:r>
              <a:rPr sz="1200" b="0" i="0">
                <a:solidFill>
                  <a:srgbClr val="6B6560"/>
                </a:solidFill>
                <a:latin typeface="Segoe UI"/>
              </a:rPr>
              <a:t> — warrants a conversation and documentation.</a:t>
            </a:r>
          </a:p>
          <a:p>
            <a:pPr algn="l">
              <a:spcBef>
                <a:spcPts val="0"/>
              </a:spcBef>
              <a:spcAft>
                <a:spcPts val="600"/>
              </a:spcAft>
            </a:pPr>
            <a:r>
              <a:rPr sz="1100" b="1" i="0">
                <a:solidFill>
                  <a:srgbClr val="7A3B1E"/>
                </a:solidFill>
                <a:latin typeface="Segoe UI"/>
              </a:rPr>
              <a:t>[2+ in 12 months]</a:t>
            </a:r>
            <a:r>
              <a:rPr sz="1200" b="0" i="0">
                <a:solidFill>
                  <a:srgbClr val="6B6560"/>
                </a:solidFill>
                <a:latin typeface="Segoe UI"/>
              </a:rPr>
              <a:t> — warrants a formal written warning within the CS agreement framework, a UDS, and a PDMP review.</a:t>
            </a:r>
          </a:p>
          <a:p>
            <a:pPr algn="l">
              <a:spcBef>
                <a:spcPts val="0"/>
              </a:spcBef>
              <a:spcAft>
                <a:spcPts val="600"/>
              </a:spcAft>
            </a:pPr>
            <a:r>
              <a:rPr sz="1100" b="1" i="0">
                <a:solidFill>
                  <a:srgbClr val="7A3B1E"/>
                </a:solidFill>
                <a:latin typeface="Segoe UI"/>
              </a:rPr>
              <a:t>[3+ in 12 months]</a:t>
            </a:r>
            <a:r>
              <a:rPr sz="1200" b="0" i="0">
                <a:solidFill>
                  <a:srgbClr val="6B6560"/>
                </a:solidFill>
                <a:latin typeface="Segoe UI"/>
              </a:rPr>
              <a:t> — a pattern that requires e-consult before continuation.</a:t>
            </a:r>
          </a:p>
          <a:p>
            <a:pPr algn="l">
              <a:spcBef>
                <a:spcPts val="0"/>
              </a:spcBef>
              <a:spcAft>
                <a:spcPts val="600"/>
              </a:spcAft>
            </a:pPr>
            <a:r>
              <a:rPr sz="1200" b="0" i="0">
                <a:solidFill>
                  <a:srgbClr val="6B6560"/>
                </a:solidFill>
                <a:latin typeface="Segoe UI"/>
              </a:rPr>
              <a:t>Document each instance at the time it occurs — patterns are only visible in retrospect if the individual events are in the chart.</a:t>
            </a:r>
          </a:p>
        </p:txBody>
      </p:sp>
      <p:sp>
        <p:nvSpPr>
          <p:cNvPr id="9" name="Rectangle 8"/>
          <p:cNvSpPr/>
          <p:nvPr/>
        </p:nvSpPr>
        <p:spPr>
          <a:xfrm>
            <a:off x="594360" y="1600200"/>
            <a:ext cx="31750" cy="9144"/>
          </a:xfrm>
          <a:prstGeom prst="rect">
            <a:avLst/>
          </a:prstGeom>
          <a:solidFill>
            <a:srgbClr val="EA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 y="3566160"/>
            <a:ext cx="9601200" cy="9525"/>
          </a:xfrm>
          <a:prstGeom prst="rect">
            <a:avLst/>
          </a:prstGeom>
          <a:solidFill>
            <a:srgbClr val="D6D0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3703320"/>
            <a:ext cx="10515600" cy="457200"/>
          </a:xfrm>
          <a:prstGeom prst="rect">
            <a:avLst/>
          </a:prstGeom>
          <a:noFill/>
        </p:spPr>
        <p:txBody>
          <a:bodyPr wrap="square">
            <a:spAutoFit/>
          </a:bodyPr>
          <a:lstStyle/>
          <a:p>
            <a:pPr algn="l">
              <a:spcBef>
                <a:spcPts val="0"/>
              </a:spcBef>
              <a:spcAft>
                <a:spcPts val="200"/>
              </a:spcAft>
            </a:pPr>
            <a:r>
              <a:rPr sz="1400" b="1" i="0">
                <a:solidFill>
                  <a:srgbClr val="1C1A16"/>
                </a:solidFill>
                <a:latin typeface="Segoe UI"/>
              </a:rPr>
              <a:t>The patient calls repeatedly between visits asking for early refills, dose increases, or exceptions. How do I manage this?</a:t>
            </a:r>
          </a:p>
        </p:txBody>
      </p:sp>
      <p:sp>
        <p:nvSpPr>
          <p:cNvPr id="12" name="TextBox 11"/>
          <p:cNvSpPr txBox="1"/>
          <p:nvPr/>
        </p:nvSpPr>
        <p:spPr>
          <a:xfrm>
            <a:off x="731520" y="4114800"/>
            <a:ext cx="10058400" cy="2743200"/>
          </a:xfrm>
          <a:prstGeom prst="rect">
            <a:avLst/>
          </a:prstGeom>
          <a:noFill/>
        </p:spPr>
        <p:txBody>
          <a:bodyPr wrap="square">
            <a:spAutoFit/>
          </a:bodyPr>
          <a:lstStyle/>
          <a:p>
            <a:pPr algn="l">
              <a:spcBef>
                <a:spcPts val="0"/>
              </a:spcBef>
              <a:spcAft>
                <a:spcPts val="600"/>
              </a:spcAft>
            </a:pPr>
            <a:r>
              <a:rPr sz="1200" b="0" i="0">
                <a:solidFill>
                  <a:srgbClr val="6B6560"/>
                </a:solidFill>
                <a:latin typeface="Segoe UI"/>
              </a:rPr>
              <a:t>Establish a clear protocol and communicate it once, in writing: controlled substance questions are addressed at scheduled visits only, not by phone or portal message. Exceptions are not made between visits. Document that this was communicated.</a:t>
            </a:r>
          </a:p>
          <a:p>
            <a:pPr algn="l">
              <a:spcBef>
                <a:spcPts val="0"/>
              </a:spcBef>
              <a:spcAft>
                <a:spcPts val="600"/>
              </a:spcAft>
            </a:pPr>
            <a:r>
              <a:rPr sz="1200" b="0" i="0">
                <a:solidFill>
                  <a:srgbClr val="6B6560"/>
                </a:solidFill>
                <a:latin typeface="Segoe UI"/>
              </a:rPr>
              <a:t>Frequent between-visit contact around controlled substances is itself a behavioral flag — note it in the chart as part of the monitoring picture.</a:t>
            </a:r>
          </a:p>
        </p:txBody>
      </p:sp>
      <p:sp>
        <p:nvSpPr>
          <p:cNvPr id="13" name="Rectangle 12"/>
          <p:cNvSpPr/>
          <p:nvPr/>
        </p:nvSpPr>
        <p:spPr>
          <a:xfrm>
            <a:off x="594360" y="4114800"/>
            <a:ext cx="31750" cy="9144"/>
          </a:xfrm>
          <a:prstGeom prst="rect">
            <a:avLst/>
          </a:prstGeom>
          <a:solidFill>
            <a:srgbClr val="EA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31520" y="5623560"/>
            <a:ext cx="9601200" cy="9525"/>
          </a:xfrm>
          <a:prstGeom prst="rect">
            <a:avLst/>
          </a:prstGeom>
          <a:solidFill>
            <a:srgbClr val="D6D0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8640" y="5760720"/>
            <a:ext cx="10515600" cy="457200"/>
          </a:xfrm>
          <a:prstGeom prst="rect">
            <a:avLst/>
          </a:prstGeom>
          <a:noFill/>
        </p:spPr>
        <p:txBody>
          <a:bodyPr wrap="square">
            <a:spAutoFit/>
          </a:bodyPr>
          <a:lstStyle/>
          <a:p>
            <a:pPr algn="l">
              <a:spcBef>
                <a:spcPts val="0"/>
              </a:spcBef>
              <a:spcAft>
                <a:spcPts val="200"/>
              </a:spcAft>
            </a:pPr>
            <a:r>
              <a:rPr sz="1400" b="1" i="0">
                <a:solidFill>
                  <a:srgbClr val="1C1A16"/>
                </a:solidFill>
                <a:latin typeface="Segoe UI"/>
              </a:rPr>
              <a:t>The patient says their medication was stolen. What are my obligations?</a:t>
            </a:r>
          </a:p>
        </p:txBody>
      </p:sp>
      <p:sp>
        <p:nvSpPr>
          <p:cNvPr id="16" name="TextBox 15"/>
          <p:cNvSpPr txBox="1"/>
          <p:nvPr/>
        </p:nvSpPr>
        <p:spPr>
          <a:xfrm>
            <a:off x="731520" y="6172200"/>
            <a:ext cx="10058400" cy="2743200"/>
          </a:xfrm>
          <a:prstGeom prst="rect">
            <a:avLst/>
          </a:prstGeom>
          <a:noFill/>
        </p:spPr>
        <p:txBody>
          <a:bodyPr wrap="square">
            <a:spAutoFit/>
          </a:bodyPr>
          <a:lstStyle/>
          <a:p>
            <a:pPr algn="l">
              <a:spcBef>
                <a:spcPts val="0"/>
              </a:spcBef>
              <a:spcAft>
                <a:spcPts val="600"/>
              </a:spcAft>
            </a:pPr>
            <a:r>
              <a:rPr sz="1200" b="0" i="0">
                <a:solidFill>
                  <a:srgbClr val="6B6560"/>
                </a:solidFill>
                <a:latin typeface="Segoe UI"/>
              </a:rPr>
              <a:t>Schedule II opiates are not replaced for loss or theft as a matter of institutional policy. Communicate this clearly and without apology. You may offer to file a police report with the patient if they wish to document the theft — this creates a record and is occasionally relevant.</a:t>
            </a:r>
          </a:p>
          <a:p>
            <a:pPr algn="l">
              <a:spcBef>
                <a:spcPts val="0"/>
              </a:spcBef>
              <a:spcAft>
                <a:spcPts val="600"/>
              </a:spcAft>
            </a:pPr>
            <a:r>
              <a:rPr sz="1200" b="0" i="0">
                <a:solidFill>
                  <a:srgbClr val="6B6560"/>
                </a:solidFill>
                <a:latin typeface="Segoe UI"/>
              </a:rPr>
              <a:t>Document the report in the chart. A single loss event is not disqualifying for future prescribing, but it should be noted and factored into the monitoring picture going forward.</a:t>
            </a:r>
          </a:p>
        </p:txBody>
      </p:sp>
      <p:sp>
        <p:nvSpPr>
          <p:cNvPr id="17" name="Rectangle 16"/>
          <p:cNvSpPr/>
          <p:nvPr/>
        </p:nvSpPr>
        <p:spPr>
          <a:xfrm>
            <a:off x="594360" y="6172200"/>
            <a:ext cx="31750" cy="9144"/>
          </a:xfrm>
          <a:prstGeom prst="rect">
            <a:avLst/>
          </a:prstGeom>
          <a:solidFill>
            <a:srgbClr val="EA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DFCF9"/>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1A5C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731520" cy="320040"/>
          </a:xfrm>
          <a:prstGeom prst="rect">
            <a:avLst/>
          </a:prstGeom>
          <a:noFill/>
        </p:spPr>
        <p:txBody>
          <a:bodyPr wrap="square">
            <a:spAutoFit/>
          </a:bodyPr>
          <a:lstStyle/>
          <a:p>
            <a:pPr algn="ctr">
              <a:spcBef>
                <a:spcPts val="0"/>
              </a:spcBef>
              <a:spcAft>
                <a:spcPts val="400"/>
              </a:spcAft>
            </a:pPr>
            <a:r>
              <a:rPr sz="1400" b="1" i="0">
                <a:solidFill>
                  <a:srgbClr val="1A5C3A"/>
                </a:solidFill>
                <a:latin typeface="Segoe UI"/>
              </a:rPr>
              <a:t>F10</a:t>
            </a:r>
          </a:p>
        </p:txBody>
      </p:sp>
      <p:sp>
        <p:nvSpPr>
          <p:cNvPr id="4" name="Rectangle 3"/>
          <p:cNvSpPr/>
          <p:nvPr/>
        </p:nvSpPr>
        <p:spPr>
          <a:xfrm>
            <a:off x="502920" y="118872"/>
            <a:ext cx="594360" cy="3200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280160" y="109728"/>
            <a:ext cx="9144000" cy="274320"/>
          </a:xfrm>
          <a:prstGeom prst="rect">
            <a:avLst/>
          </a:prstGeom>
          <a:noFill/>
        </p:spPr>
        <p:txBody>
          <a:bodyPr wrap="square">
            <a:spAutoFit/>
          </a:bodyPr>
          <a:lstStyle/>
          <a:p>
            <a:pPr algn="l">
              <a:spcBef>
                <a:spcPts val="0"/>
              </a:spcBef>
              <a:spcAft>
                <a:spcPts val="400"/>
              </a:spcAft>
            </a:pPr>
            <a:r>
              <a:rPr sz="1000" b="0" i="0">
                <a:solidFill>
                  <a:srgbClr val="CCDDCC"/>
                </a:solidFill>
                <a:latin typeface="Segoe UI"/>
              </a:rPr>
              <a:t>OPIOID USE DISORDER</a:t>
            </a:r>
          </a:p>
        </p:txBody>
      </p:sp>
      <p:sp>
        <p:nvSpPr>
          <p:cNvPr id="6" name="TextBox 5"/>
          <p:cNvSpPr txBox="1"/>
          <p:nvPr/>
        </p:nvSpPr>
        <p:spPr>
          <a:xfrm>
            <a:off x="1280160" y="384048"/>
            <a:ext cx="9144000" cy="457200"/>
          </a:xfrm>
          <a:prstGeom prst="rect">
            <a:avLst/>
          </a:prstGeom>
          <a:noFill/>
        </p:spPr>
        <p:txBody>
          <a:bodyPr wrap="square">
            <a:spAutoFit/>
          </a:bodyPr>
          <a:lstStyle/>
          <a:p>
            <a:pPr algn="l">
              <a:spcBef>
                <a:spcPts val="0"/>
              </a:spcBef>
              <a:spcAft>
                <a:spcPts val="400"/>
              </a:spcAft>
            </a:pPr>
            <a:r>
              <a:rPr sz="1800" b="1" i="0">
                <a:solidFill>
                  <a:srgbClr val="FFFFFF"/>
                </a:solidFill>
                <a:latin typeface="Segoe UI"/>
              </a:rPr>
              <a:t>When chronic pain management becomes OUD — recognizing and responding</a:t>
            </a:r>
          </a:p>
        </p:txBody>
      </p:sp>
      <p:sp>
        <p:nvSpPr>
          <p:cNvPr id="7" name="TextBox 6"/>
          <p:cNvSpPr txBox="1"/>
          <p:nvPr/>
        </p:nvSpPr>
        <p:spPr>
          <a:xfrm>
            <a:off x="548640" y="1188720"/>
            <a:ext cx="10515600" cy="457200"/>
          </a:xfrm>
          <a:prstGeom prst="rect">
            <a:avLst/>
          </a:prstGeom>
          <a:noFill/>
        </p:spPr>
        <p:txBody>
          <a:bodyPr wrap="square">
            <a:spAutoFit/>
          </a:bodyPr>
          <a:lstStyle/>
          <a:p>
            <a:pPr algn="l">
              <a:spcBef>
                <a:spcPts val="0"/>
              </a:spcBef>
              <a:spcAft>
                <a:spcPts val="200"/>
              </a:spcAft>
            </a:pPr>
            <a:r>
              <a:rPr sz="1400" b="1" i="0">
                <a:solidFill>
                  <a:srgbClr val="1C1A16"/>
                </a:solidFill>
                <a:latin typeface="Segoe UI"/>
              </a:rPr>
              <a:t>How do I distinguish chronic pain requiring opiates from OUD?</a:t>
            </a:r>
          </a:p>
        </p:txBody>
      </p:sp>
      <p:sp>
        <p:nvSpPr>
          <p:cNvPr id="8" name="TextBox 7"/>
          <p:cNvSpPr txBox="1"/>
          <p:nvPr/>
        </p:nvSpPr>
        <p:spPr>
          <a:xfrm>
            <a:off x="731520" y="1600200"/>
            <a:ext cx="10058400" cy="2743200"/>
          </a:xfrm>
          <a:prstGeom prst="rect">
            <a:avLst/>
          </a:prstGeom>
          <a:noFill/>
        </p:spPr>
        <p:txBody>
          <a:bodyPr wrap="square">
            <a:spAutoFit/>
          </a:bodyPr>
          <a:lstStyle/>
          <a:p>
            <a:pPr algn="l">
              <a:spcBef>
                <a:spcPts val="0"/>
              </a:spcBef>
              <a:spcAft>
                <a:spcPts val="600"/>
              </a:spcAft>
            </a:pPr>
            <a:r>
              <a:rPr sz="1200" b="0" i="0">
                <a:solidFill>
                  <a:srgbClr val="6B6560"/>
                </a:solidFill>
                <a:latin typeface="Segoe UI"/>
              </a:rPr>
              <a:t>They coexist more often than they are mutually exclusive — a patient can have both legitimate chronic pain and opioid use disorder simultaneously. Signs that OUD may be present alongside or instead of pure pain management need:</a:t>
            </a:r>
          </a:p>
          <a:p>
            <a:pPr algn="l">
              <a:spcBef>
                <a:spcPts val="0"/>
              </a:spcBef>
              <a:spcAft>
                <a:spcPts val="600"/>
              </a:spcAft>
            </a:pPr>
            <a:r>
              <a:rPr sz="1200" b="0" i="0">
                <a:solidFill>
                  <a:srgbClr val="6B6560"/>
                </a:solidFill>
                <a:latin typeface="Segoe UI"/>
              </a:rPr>
              <a:t>Continued use despite clear harm, inability to adhere to the agreed prescribing structure despite genuine effort, loss of control over use, withdrawal symptoms driving use more than pain relief, and social or functional deterioration attributable to opioid use.</a:t>
            </a:r>
          </a:p>
        </p:txBody>
      </p:sp>
      <p:sp>
        <p:nvSpPr>
          <p:cNvPr id="9" name="Rectangle 8"/>
          <p:cNvSpPr/>
          <p:nvPr/>
        </p:nvSpPr>
        <p:spPr>
          <a:xfrm>
            <a:off x="594360" y="1600200"/>
            <a:ext cx="31750" cy="9144"/>
          </a:xfrm>
          <a:prstGeom prst="rect">
            <a:avLst/>
          </a:prstGeom>
          <a:solidFill>
            <a:srgbClr val="EA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 y="3337560"/>
            <a:ext cx="9601200" cy="9525"/>
          </a:xfrm>
          <a:prstGeom prst="rect">
            <a:avLst/>
          </a:prstGeom>
          <a:solidFill>
            <a:srgbClr val="D6D0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3474720"/>
            <a:ext cx="10515600" cy="457200"/>
          </a:xfrm>
          <a:prstGeom prst="rect">
            <a:avLst/>
          </a:prstGeom>
          <a:noFill/>
        </p:spPr>
        <p:txBody>
          <a:bodyPr wrap="square">
            <a:spAutoFit/>
          </a:bodyPr>
          <a:lstStyle/>
          <a:p>
            <a:pPr algn="l">
              <a:spcBef>
                <a:spcPts val="0"/>
              </a:spcBef>
              <a:spcAft>
                <a:spcPts val="200"/>
              </a:spcAft>
            </a:pPr>
            <a:r>
              <a:rPr sz="1400" b="1" i="0">
                <a:solidFill>
                  <a:srgbClr val="1C1A16"/>
                </a:solidFill>
                <a:latin typeface="Segoe UI"/>
              </a:rPr>
              <a:t>If I think this is OUD, what is the pathway?</a:t>
            </a:r>
          </a:p>
        </p:txBody>
      </p:sp>
      <p:sp>
        <p:nvSpPr>
          <p:cNvPr id="12" name="TextBox 11"/>
          <p:cNvSpPr txBox="1"/>
          <p:nvPr/>
        </p:nvSpPr>
        <p:spPr>
          <a:xfrm>
            <a:off x="731520" y="3886200"/>
            <a:ext cx="10058400" cy="2743200"/>
          </a:xfrm>
          <a:prstGeom prst="rect">
            <a:avLst/>
          </a:prstGeom>
          <a:noFill/>
        </p:spPr>
        <p:txBody>
          <a:bodyPr wrap="square">
            <a:spAutoFit/>
          </a:bodyPr>
          <a:lstStyle/>
          <a:p>
            <a:pPr algn="l">
              <a:spcBef>
                <a:spcPts val="0"/>
              </a:spcBef>
              <a:spcAft>
                <a:spcPts val="600"/>
              </a:spcAft>
            </a:pPr>
            <a:r>
              <a:rPr sz="1200" b="0" i="0">
                <a:solidFill>
                  <a:srgbClr val="6B6560"/>
                </a:solidFill>
                <a:latin typeface="Segoe UI"/>
              </a:rPr>
              <a:t>MOUD — medication for opioid use disorder — is the evidence-based treatment and significantly outperforms taper or discontinuation for patient outcomes including overdose survival. Buprenorphine (Suboxone) can be initiated in primary care and is within your scope. Methadone for OUD requires an OTP clinic.</a:t>
            </a:r>
          </a:p>
          <a:p>
            <a:pPr algn="l">
              <a:spcBef>
                <a:spcPts val="0"/>
              </a:spcBef>
              <a:spcAft>
                <a:spcPts val="600"/>
              </a:spcAft>
            </a:pPr>
            <a:r>
              <a:rPr sz="1200" b="0" i="0">
                <a:solidFill>
                  <a:srgbClr val="6B6560"/>
                </a:solidFill>
                <a:latin typeface="Segoe UI"/>
              </a:rPr>
              <a:t>The e-consult framing shifts: instead of "please review pain management plan," it becomes </a:t>
            </a:r>
            <a:r>
              <a:rPr sz="1200" b="0" i="1">
                <a:solidFill>
                  <a:srgbClr val="6B6560"/>
                </a:solidFill>
                <a:latin typeface="Segoe UI"/>
              </a:rPr>
              <a:t>"patient with chronic pain and possible OUD — please advise on MOUD candidacy and transition plan."</a:t>
            </a:r>
            <a:r>
              <a:rPr sz="1200" b="0" i="0">
                <a:solidFill>
                  <a:srgbClr val="6B6560"/>
                </a:solidFill>
                <a:latin typeface="Segoe UI"/>
              </a:rPr>
              <a:t> Do not frame OUD as a moral failure to the patient or in documentation.</a:t>
            </a:r>
          </a:p>
        </p:txBody>
      </p:sp>
      <p:sp>
        <p:nvSpPr>
          <p:cNvPr id="13" name="Rectangle 12"/>
          <p:cNvSpPr/>
          <p:nvPr/>
        </p:nvSpPr>
        <p:spPr>
          <a:xfrm>
            <a:off x="594360" y="3886200"/>
            <a:ext cx="31750" cy="9144"/>
          </a:xfrm>
          <a:prstGeom prst="rect">
            <a:avLst/>
          </a:prstGeom>
          <a:solidFill>
            <a:srgbClr val="EA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31520" y="5852160"/>
            <a:ext cx="9601200" cy="9525"/>
          </a:xfrm>
          <a:prstGeom prst="rect">
            <a:avLst/>
          </a:prstGeom>
          <a:solidFill>
            <a:srgbClr val="D6D0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8640" y="5989320"/>
            <a:ext cx="10515600" cy="457200"/>
          </a:xfrm>
          <a:prstGeom prst="rect">
            <a:avLst/>
          </a:prstGeom>
          <a:noFill/>
        </p:spPr>
        <p:txBody>
          <a:bodyPr wrap="square">
            <a:spAutoFit/>
          </a:bodyPr>
          <a:lstStyle/>
          <a:p>
            <a:pPr algn="l">
              <a:spcBef>
                <a:spcPts val="0"/>
              </a:spcBef>
              <a:spcAft>
                <a:spcPts val="200"/>
              </a:spcAft>
            </a:pPr>
            <a:r>
              <a:rPr sz="1400" b="1" i="0">
                <a:solidFill>
                  <a:srgbClr val="1C1A16"/>
                </a:solidFill>
                <a:latin typeface="Segoe UI"/>
              </a:rPr>
              <a:t>Can I continue the opiate while initiating an OUD evaluation?</a:t>
            </a:r>
          </a:p>
        </p:txBody>
      </p:sp>
      <p:sp>
        <p:nvSpPr>
          <p:cNvPr id="16" name="TextBox 15"/>
          <p:cNvSpPr txBox="1"/>
          <p:nvPr/>
        </p:nvSpPr>
        <p:spPr>
          <a:xfrm>
            <a:off x="731520" y="6400800"/>
            <a:ext cx="10058400" cy="2743200"/>
          </a:xfrm>
          <a:prstGeom prst="rect">
            <a:avLst/>
          </a:prstGeom>
          <a:noFill/>
        </p:spPr>
        <p:txBody>
          <a:bodyPr wrap="square">
            <a:spAutoFit/>
          </a:bodyPr>
          <a:lstStyle/>
          <a:p>
            <a:pPr algn="l">
              <a:spcBef>
                <a:spcPts val="0"/>
              </a:spcBef>
              <a:spcAft>
                <a:spcPts val="600"/>
              </a:spcAft>
            </a:pPr>
            <a:r>
              <a:rPr sz="1200" b="0" i="0">
                <a:solidFill>
                  <a:srgbClr val="6B6560"/>
                </a:solidFill>
                <a:latin typeface="Segoe UI"/>
              </a:rPr>
              <a:t>Yes — do not abruptly discontinue while the evaluation is pending. A patient who is cut off from prescribed opioids without a treatment plan is at acute overdose risk from illicit opioid use.</a:t>
            </a:r>
          </a:p>
          <a:p>
            <a:pPr algn="l">
              <a:spcBef>
                <a:spcPts val="0"/>
              </a:spcBef>
              <a:spcAft>
                <a:spcPts val="600"/>
              </a:spcAft>
            </a:pPr>
            <a:r>
              <a:rPr sz="1200" b="0" i="0">
                <a:solidFill>
                  <a:srgbClr val="6B6560"/>
                </a:solidFill>
                <a:latin typeface="Segoe UI"/>
              </a:rPr>
              <a:t>Continuity with close monitoring and an active referral in process is safer than discontinuation without a plan.</a:t>
            </a:r>
          </a:p>
        </p:txBody>
      </p:sp>
      <p:sp>
        <p:nvSpPr>
          <p:cNvPr id="17" name="Rectangle 16"/>
          <p:cNvSpPr/>
          <p:nvPr/>
        </p:nvSpPr>
        <p:spPr>
          <a:xfrm>
            <a:off x="594360" y="6400800"/>
            <a:ext cx="31750" cy="9144"/>
          </a:xfrm>
          <a:prstGeom prst="rect">
            <a:avLst/>
          </a:prstGeom>
          <a:solidFill>
            <a:srgbClr val="EA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A5C3A"/>
        </a:solidFill>
        <a:effectLst/>
      </p:bgPr>
    </p:bg>
    <p:spTree>
      <p:nvGrpSpPr>
        <p:cNvPr id="1" name=""/>
        <p:cNvGrpSpPr/>
        <p:nvPr/>
      </p:nvGrpSpPr>
      <p:grpSpPr/>
      <p:sp>
        <p:nvSpPr>
          <p:cNvPr id="2" name="TextBox 1"/>
          <p:cNvSpPr txBox="1"/>
          <p:nvPr/>
        </p:nvSpPr>
        <p:spPr>
          <a:xfrm>
            <a:off x="914400" y="2286000"/>
            <a:ext cx="10058400" cy="914400"/>
          </a:xfrm>
          <a:prstGeom prst="rect">
            <a:avLst/>
          </a:prstGeom>
          <a:noFill/>
        </p:spPr>
        <p:txBody>
          <a:bodyPr wrap="square">
            <a:spAutoFit/>
          </a:bodyPr>
          <a:lstStyle/>
          <a:p>
            <a:pPr algn="l">
              <a:spcBef>
                <a:spcPts val="0"/>
              </a:spcBef>
              <a:spcAft>
                <a:spcPts val="400"/>
              </a:spcAft>
            </a:pPr>
            <a:r>
              <a:rPr sz="1200" b="0" i="0">
                <a:solidFill>
                  <a:srgbClr val="CCDDCC"/>
                </a:solidFill>
                <a:latin typeface="Segoe UI"/>
              </a:rPr>
              <a:t>MERIDIAN</a:t>
            </a:r>
          </a:p>
        </p:txBody>
      </p:sp>
      <p:sp>
        <p:nvSpPr>
          <p:cNvPr id="3" name="TextBox 2"/>
          <p:cNvSpPr txBox="1"/>
          <p:nvPr/>
        </p:nvSpPr>
        <p:spPr>
          <a:xfrm>
            <a:off x="914400" y="2743200"/>
            <a:ext cx="10058400" cy="914400"/>
          </a:xfrm>
          <a:prstGeom prst="rect">
            <a:avLst/>
          </a:prstGeom>
          <a:noFill/>
        </p:spPr>
        <p:txBody>
          <a:bodyPr wrap="square">
            <a:spAutoFit/>
          </a:bodyPr>
          <a:lstStyle/>
          <a:p>
            <a:pPr algn="l">
              <a:spcBef>
                <a:spcPts val="0"/>
              </a:spcBef>
              <a:spcAft>
                <a:spcPts val="400"/>
              </a:spcAft>
            </a:pPr>
            <a:r>
              <a:rPr sz="2800" b="1" i="0">
                <a:solidFill>
                  <a:srgbClr val="FFFFFF"/>
                </a:solidFill>
                <a:latin typeface="Segoe UI"/>
              </a:rPr>
              <a:t>Chronic Opiates</a:t>
            </a:r>
          </a:p>
        </p:txBody>
      </p:sp>
      <p:sp>
        <p:nvSpPr>
          <p:cNvPr id="4" name="TextBox 3"/>
          <p:cNvSpPr txBox="1"/>
          <p:nvPr/>
        </p:nvSpPr>
        <p:spPr>
          <a:xfrm>
            <a:off x="914400" y="4114800"/>
            <a:ext cx="8229600" cy="1371600"/>
          </a:xfrm>
          <a:prstGeom prst="rect">
            <a:avLst/>
          </a:prstGeom>
          <a:noFill/>
        </p:spPr>
        <p:txBody>
          <a:bodyPr wrap="square">
            <a:spAutoFit/>
          </a:bodyPr>
          <a:lstStyle/>
          <a:p>
            <a:pPr algn="l">
              <a:spcBef>
                <a:spcPts val="0"/>
              </a:spcBef>
              <a:spcAft>
                <a:spcPts val="400"/>
              </a:spcAft>
            </a:pPr>
            <a:r>
              <a:rPr sz="1300" b="0" i="1">
                <a:solidFill>
                  <a:srgbClr val="CCDDCC"/>
                </a:solidFill>
                <a:latin typeface="Segoe UI"/>
              </a:rPr>
              <a:t>For internal use only. This is a viable first pathway, not the only pathway. Experienced providers retain clinical discretion.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