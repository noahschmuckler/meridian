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1371600"/>
            <a:ext cx="10058400" cy="457200"/>
          </a:xfrm>
          <a:prstGeom prst="rect">
            <a:avLst/>
          </a:prstGeom>
          <a:noFill/>
        </p:spPr>
        <p:txBody>
          <a:bodyPr wrap="square">
            <a:spAutoFit/>
          </a:bodyPr>
          <a:lstStyle/>
          <a:p>
            <a:pPr algn="l">
              <a:spcBef>
                <a:spcPts val="0"/>
              </a:spcBef>
              <a:spcAft>
                <a:spcPts val="400"/>
              </a:spcAft>
              <a:defRPr>
                <a:latin typeface="Segoe UI"/>
              </a:defRPr>
            </a:pPr>
            <a:r>
              <a:rPr sz="1200" b="0" i="0">
                <a:solidFill>
                  <a:srgbClr val="FFFFFF"/>
                </a:solidFill>
                <a:latin typeface="Segoe UI"/>
              </a:rPr>
              <a:t>MERIDIAN</a:t>
            </a:r>
          </a:p>
        </p:txBody>
      </p:sp>
      <p:sp>
        <p:nvSpPr>
          <p:cNvPr id="3" name="TextBox 2"/>
          <p:cNvSpPr txBox="1"/>
          <p:nvPr/>
        </p:nvSpPr>
        <p:spPr>
          <a:xfrm>
            <a:off x="914400" y="2011680"/>
            <a:ext cx="10058400" cy="1371600"/>
          </a:xfrm>
          <a:prstGeom prst="rect">
            <a:avLst/>
          </a:prstGeom>
          <a:noFill/>
        </p:spPr>
        <p:txBody>
          <a:bodyPr wrap="square">
            <a:spAutoFit/>
          </a:bodyPr>
          <a:lstStyle/>
          <a:p>
            <a:pPr algn="l">
              <a:spcBef>
                <a:spcPts val="0"/>
              </a:spcBef>
              <a:spcAft>
                <a:spcPts val="400"/>
              </a:spcAft>
            </a:pPr>
            <a:r>
              <a:rPr sz="3600" b="1" i="0">
                <a:solidFill>
                  <a:srgbClr val="FFFFFF"/>
                </a:solidFill>
                <a:latin typeface="Segoe UI"/>
              </a:rPr>
              <a:t>Anemia</a:t>
            </a:r>
          </a:p>
        </p:txBody>
      </p:sp>
      <p:sp>
        <p:nvSpPr>
          <p:cNvPr id="4" name="TextBox 3"/>
          <p:cNvSpPr txBox="1"/>
          <p:nvPr/>
        </p:nvSpPr>
        <p:spPr>
          <a:xfrm>
            <a:off x="914400" y="3291840"/>
            <a:ext cx="10058400" cy="731520"/>
          </a:xfrm>
          <a:prstGeom prst="rect">
            <a:avLst/>
          </a:prstGeom>
          <a:noFill/>
        </p:spPr>
        <p:txBody>
          <a:bodyPr wrap="square">
            <a:spAutoFit/>
          </a:bodyPr>
          <a:lstStyle/>
          <a:p>
            <a:pPr algn="l">
              <a:spcBef>
                <a:spcPts val="0"/>
              </a:spcBef>
              <a:spcAft>
                <a:spcPts val="400"/>
              </a:spcAft>
            </a:pPr>
            <a:r>
              <a:rPr sz="2000" b="0" i="1">
                <a:solidFill>
                  <a:srgbClr val="CCDDCC"/>
                </a:solidFill>
                <a:latin typeface="Segoe UI"/>
              </a:rPr>
              <a:t>Initial Workup Before Hematology</a:t>
            </a:r>
          </a:p>
        </p:txBody>
      </p:sp>
      <p:sp>
        <p:nvSpPr>
          <p:cNvPr id="5" name="TextBox 4"/>
          <p:cNvSpPr txBox="1"/>
          <p:nvPr/>
        </p:nvSpPr>
        <p:spPr>
          <a:xfrm>
            <a:off x="914400" y="4389120"/>
            <a:ext cx="8229600" cy="1371600"/>
          </a:xfrm>
          <a:prstGeom prst="rect">
            <a:avLst/>
          </a:prstGeom>
          <a:noFill/>
        </p:spPr>
        <p:txBody>
          <a:bodyPr wrap="square">
            <a:spAutoFit/>
          </a:bodyPr>
          <a:lstStyle/>
          <a:p>
            <a:pPr algn="l">
              <a:spcBef>
                <a:spcPts val="0"/>
              </a:spcBef>
              <a:spcAft>
                <a:spcPts val="400"/>
              </a:spcAft>
            </a:pPr>
            <a:r>
              <a:rPr sz="1400" b="0" i="1">
                <a:solidFill>
                  <a:srgbClr val="CCDDCC"/>
                </a:solidFill>
                <a:latin typeface="Segoe UI"/>
              </a:rPr>
              <a:t>A patient has a low hemoglobin. The reflex to immediately consult hematology is understandable — but a hematologist receiving a referral with only a CBC and no workup cannot do much from a distance. Your job is to complete a structured initial evaluation that answers the first-order question: what kind of anemia is this? Most anemia seen in primary care has a diagnosable and treatable cause that does not require hematology at all. For those that do, arriving with a completed workup transforms the consult from a hand-off into a collaboration.</a:t>
            </a:r>
          </a:p>
        </p:txBody>
      </p:sp>
      <p:sp>
        <p:nvSpPr>
          <p:cNvPr id="6" name="Rectangle 5"/>
          <p:cNvSpPr/>
          <p:nvPr/>
        </p:nvSpPr>
        <p:spPr>
          <a:xfrm>
            <a:off x="914400" y="6217920"/>
            <a:ext cx="10362895" cy="25400"/>
          </a:xfrm>
          <a:prstGeom prst="rect">
            <a:avLst/>
          </a:prstGeom>
          <a:solidFill>
            <a:srgbClr val="CCDD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BEFORE YOU ESCALATE — COMPLETE ALL FOUR</a:t>
            </a:r>
          </a:p>
        </p:txBody>
      </p:sp>
      <p:sp>
        <p:nvSpPr>
          <p:cNvPr id="4" name="Rectangle 3"/>
          <p:cNvSpPr/>
          <p:nvPr/>
        </p:nvSpPr>
        <p:spPr>
          <a:xfrm>
            <a:off x="731520" y="113538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9728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CBC with differential reviewed — MCV categorized as microcytic, normocytic, or macrocytic</a:t>
            </a:r>
            <a:r>
              <a:rPr sz="1000" b="1" i="0">
                <a:solidFill>
                  <a:srgbClr val="1A5C3A"/>
                </a:solidFill>
                <a:latin typeface="Segoe UI"/>
              </a:rPr>
              <a:t>  F1</a:t>
            </a:r>
          </a:p>
        </p:txBody>
      </p:sp>
      <p:sp>
        <p:nvSpPr>
          <p:cNvPr id="6" name="Rectangle 5"/>
          <p:cNvSpPr/>
          <p:nvPr/>
        </p:nvSpPr>
        <p:spPr>
          <a:xfrm>
            <a:off x="731520" y="172974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9164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Reticulocyte count obtained — production vs. destruction vs. loss established</a:t>
            </a:r>
            <a:r>
              <a:rPr sz="1000" b="1" i="0">
                <a:solidFill>
                  <a:srgbClr val="1A5C3A"/>
                </a:solidFill>
                <a:latin typeface="Segoe UI"/>
              </a:rPr>
              <a:t>  F2</a:t>
            </a:r>
          </a:p>
        </p:txBody>
      </p:sp>
      <p:sp>
        <p:nvSpPr>
          <p:cNvPr id="8" name="Rectangle 7"/>
          <p:cNvSpPr/>
          <p:nvPr/>
        </p:nvSpPr>
        <p:spPr>
          <a:xfrm>
            <a:off x="731520" y="232410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8600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Iron studies obtained if microcytic or mixed — serum iron, TIBC, ferritin, transferrin saturation</a:t>
            </a:r>
            <a:r>
              <a:rPr sz="1000" b="1" i="0">
                <a:solidFill>
                  <a:srgbClr val="1A5C3A"/>
                </a:solidFill>
                <a:latin typeface="Segoe UI"/>
              </a:rPr>
              <a:t>  F3</a:t>
            </a:r>
          </a:p>
        </p:txBody>
      </p:sp>
      <p:sp>
        <p:nvSpPr>
          <p:cNvPr id="10" name="Rectangle 9"/>
          <p:cNvSpPr/>
          <p:nvPr/>
        </p:nvSpPr>
        <p:spPr>
          <a:xfrm>
            <a:off x="731520" y="291846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8036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B12 and folate obtained if macrocytic or normocytic with clinical suspicion</a:t>
            </a:r>
            <a:r>
              <a:rPr sz="1000" b="1" i="0">
                <a:solidFill>
                  <a:srgbClr val="1A5C3A"/>
                </a:solidFill>
                <a:latin typeface="Segoe UI"/>
              </a:rPr>
              <a:t>  F4</a:t>
            </a:r>
          </a:p>
        </p:txBody>
      </p:sp>
      <p:sp>
        <p:nvSpPr>
          <p:cNvPr id="12" name="Rectangle 11"/>
          <p:cNvSpPr/>
          <p:nvPr/>
        </p:nvSpPr>
        <p:spPr>
          <a:xfrm>
            <a:off x="640080" y="3749040"/>
            <a:ext cx="50800" cy="14630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749040"/>
            <a:ext cx="9601200" cy="1463040"/>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40480"/>
            <a:ext cx="9144000" cy="274320"/>
          </a:xfrm>
          <a:prstGeom prst="rect">
            <a:avLst/>
          </a:prstGeom>
          <a:noFill/>
        </p:spPr>
        <p:txBody>
          <a:bodyPr wrap="square">
            <a:spAutoFit/>
          </a:bodyPr>
          <a:lstStyle/>
          <a:p>
            <a:pPr algn="l">
              <a:spcBef>
                <a:spcPts val="0"/>
              </a:spcBef>
              <a:spcAft>
                <a:spcPts val="400"/>
              </a:spcAft>
            </a:pPr>
            <a:r>
              <a:rPr sz="1000" b="1" i="0">
                <a:solidFill>
                  <a:srgbClr val="1A5C3A"/>
                </a:solidFill>
                <a:latin typeface="Segoe UI"/>
              </a:rPr>
              <a:t>ALL BOXES CHECKED — YOU HAVE A WORKING DIAGNOSIS</a:t>
            </a:r>
          </a:p>
        </p:txBody>
      </p:sp>
      <p:sp>
        <p:nvSpPr>
          <p:cNvPr id="15" name="TextBox 14"/>
          <p:cNvSpPr txBox="1"/>
          <p:nvPr/>
        </p:nvSpPr>
        <p:spPr>
          <a:xfrm>
            <a:off x="914400" y="4160520"/>
            <a:ext cx="9144000" cy="548640"/>
          </a:xfrm>
          <a:prstGeom prst="rect">
            <a:avLst/>
          </a:prstGeom>
          <a:noFill/>
        </p:spPr>
        <p:txBody>
          <a:bodyPr wrap="square">
            <a:spAutoFit/>
          </a:bodyPr>
          <a:lstStyle/>
          <a:p>
            <a:pPr algn="l">
              <a:spcBef>
                <a:spcPts val="0"/>
              </a:spcBef>
              <a:spcAft>
                <a:spcPts val="400"/>
              </a:spcAft>
            </a:pPr>
            <a:r>
              <a:rPr sz="1300" b="0" i="0">
                <a:solidFill>
                  <a:srgbClr val="1C1A16"/>
                </a:solidFill>
                <a:latin typeface="Segoe UI"/>
              </a:rPr>
              <a:t>Initial workup complete. You can now categorize and begin treating the most common causes — iron deficiency, B12 deficiency, folate deficiency, or anemia of chronic disease — without hematology involvement. Document findings and plan using SmartPhrase below. Hematology e-consult is indicated only for unexplained, refractory, or complex findings. You are institutionally supported.</a:t>
            </a:r>
          </a:p>
        </p:txBody>
      </p:sp>
      <p:sp>
        <p:nvSpPr>
          <p:cNvPr id="16" name="TextBox 15"/>
          <p:cNvSpPr txBox="1"/>
          <p:nvPr/>
        </p:nvSpPr>
        <p:spPr>
          <a:xfrm>
            <a:off x="914400" y="4754880"/>
            <a:ext cx="3657600" cy="320040"/>
          </a:xfrm>
          <a:prstGeom prst="rect">
            <a:avLst/>
          </a:prstGeom>
          <a:noFill/>
        </p:spPr>
        <p:txBody>
          <a:bodyPr wrap="square">
            <a:spAutoFit/>
          </a:bodyPr>
          <a:lstStyle/>
          <a:p>
            <a:pPr algn="l">
              <a:spcBef>
                <a:spcPts val="0"/>
              </a:spcBef>
              <a:spcAft>
                <a:spcPts val="400"/>
              </a:spcAft>
            </a:pPr>
            <a:r>
              <a:rPr sz="1100" b="0" i="0">
                <a:solidFill>
                  <a:srgbClr val="1A5C3A"/>
                </a:solidFill>
                <a:latin typeface="Segoe UI"/>
              </a:rPr>
              <a:t>SmartPhrase: .ANEMIA-INIT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ESCALATE TO HEMATOLOGY E-CONSULT IF ANY APPLY</a:t>
            </a:r>
          </a:p>
        </p:txBody>
      </p:sp>
      <p:sp>
        <p:nvSpPr>
          <p:cNvPr id="4" name="Rectangle 3"/>
          <p:cNvSpPr/>
          <p:nvPr/>
        </p:nvSpPr>
        <p:spPr>
          <a:xfrm>
            <a:off x="731520" y="116078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09728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Hemoglobin &lt; 7 g/dL or symptomatic at any level (chest pain, dyspnea at rest, hemodynamic instability)</a:t>
            </a:r>
            <a:r>
              <a:rPr sz="1000" b="1" i="0">
                <a:solidFill>
                  <a:srgbClr val="1A5C3A"/>
                </a:solidFill>
                <a:latin typeface="Segoe UI"/>
              </a:rPr>
              <a:t>  F5</a:t>
            </a:r>
          </a:p>
        </p:txBody>
      </p:sp>
      <p:sp>
        <p:nvSpPr>
          <p:cNvPr id="6" name="Rectangle 5"/>
          <p:cNvSpPr/>
          <p:nvPr/>
        </p:nvSpPr>
        <p:spPr>
          <a:xfrm>
            <a:off x="731520" y="166370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Workup complete — no etiology identified after iron studies, B12, folate, reticulocyte count, and clinical review</a:t>
            </a:r>
            <a:r>
              <a:rPr sz="1000" b="1" i="0">
                <a:solidFill>
                  <a:srgbClr val="1A5C3A"/>
                </a:solidFill>
                <a:latin typeface="Segoe UI"/>
              </a:rPr>
              <a:t>  F6</a:t>
            </a:r>
          </a:p>
        </p:txBody>
      </p:sp>
      <p:sp>
        <p:nvSpPr>
          <p:cNvPr id="8" name="Rectangle 7"/>
          <p:cNvSpPr/>
          <p:nvPr/>
        </p:nvSpPr>
        <p:spPr>
          <a:xfrm>
            <a:off x="731520" y="216662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Evidence of hemolysis — elevated LDH, elevated indirect bilirubin, low haptoglobin, elevated reticulocyte count without blood loss</a:t>
            </a:r>
            <a:r>
              <a:rPr sz="1000" b="1" i="0">
                <a:solidFill>
                  <a:srgbClr val="1A5C3A"/>
                </a:solidFill>
                <a:latin typeface="Segoe UI"/>
              </a:rPr>
              <a:t>  F7</a:t>
            </a:r>
          </a:p>
        </p:txBody>
      </p:sp>
      <p:sp>
        <p:nvSpPr>
          <p:cNvPr id="10" name="Rectangle 9"/>
          <p:cNvSpPr/>
          <p:nvPr/>
        </p:nvSpPr>
        <p:spPr>
          <a:xfrm>
            <a:off x="731520" y="266954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0604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Abnormal WBC or platelet count accompanying anemia — pancytopenia, blasts on differential, or thrombocytopenia without explanation</a:t>
            </a:r>
            <a:r>
              <a:rPr sz="1000" b="1" i="0">
                <a:solidFill>
                  <a:srgbClr val="1A5C3A"/>
                </a:solidFill>
                <a:latin typeface="Segoe UI"/>
              </a:rPr>
              <a:t>  F8</a:t>
            </a:r>
          </a:p>
        </p:txBody>
      </p:sp>
      <p:sp>
        <p:nvSpPr>
          <p:cNvPr id="12" name="Rectangle 11"/>
          <p:cNvSpPr/>
          <p:nvPr/>
        </p:nvSpPr>
        <p:spPr>
          <a:xfrm>
            <a:off x="731520" y="317246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0896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Iron deficiency anemia not responding to 3 months of adequate oral iron replacement</a:t>
            </a:r>
            <a:r>
              <a:rPr sz="1000" b="1" i="0">
                <a:solidFill>
                  <a:srgbClr val="1A5C3A"/>
                </a:solidFill>
                <a:latin typeface="Segoe UI"/>
              </a:rPr>
              <a:t>  F9</a:t>
            </a:r>
          </a:p>
        </p:txBody>
      </p:sp>
      <p:sp>
        <p:nvSpPr>
          <p:cNvPr id="14" name="Rectangle 13"/>
          <p:cNvSpPr/>
          <p:nvPr/>
        </p:nvSpPr>
        <p:spPr>
          <a:xfrm>
            <a:off x="731520" y="367538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61188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Anemia in setting of CKD G3b or above — see Meridian CKD module for coordinated workup</a:t>
            </a:r>
            <a:r>
              <a:rPr sz="1000" b="1" i="0">
                <a:solidFill>
                  <a:srgbClr val="1A5C3A"/>
                </a:solidFill>
                <a:latin typeface="Segoe UI"/>
              </a:rPr>
              <a:t>  F10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F1</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CBC INTERPRETATION</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Reading the CBC — MCV as your first branch point</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MCV thresholds define the categories?</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Standard laboratory reference ranges:</a:t>
            </a:r>
          </a:p>
          <a:p>
            <a:pPr algn="l">
              <a:spcBef>
                <a:spcPts val="0"/>
              </a:spcBef>
              <a:spcAft>
                <a:spcPts val="600"/>
              </a:spcAft>
            </a:pPr>
            <a:r>
              <a:rPr sz="1100" b="1" i="0">
                <a:solidFill>
                  <a:srgbClr val="7A3B1E"/>
                </a:solidFill>
                <a:latin typeface="Segoe UI"/>
              </a:rPr>
              <a:t>[Microcytic: MCV &lt; 80 fL]</a:t>
            </a:r>
            <a:r>
              <a:rPr sz="1200" b="0" i="0">
                <a:solidFill>
                  <a:srgbClr val="6B6560"/>
                </a:solidFill>
                <a:latin typeface="Segoe UI"/>
              </a:rPr>
              <a:t> — think iron deficiency first, then thalassemia, then anemia of chronic disease (can be microcytic), then sideroblastic anemia (rare).</a:t>
            </a:r>
          </a:p>
          <a:p>
            <a:pPr algn="l">
              <a:spcBef>
                <a:spcPts val="0"/>
              </a:spcBef>
              <a:spcAft>
                <a:spcPts val="600"/>
              </a:spcAft>
            </a:pPr>
            <a:r>
              <a:rPr sz="1100" b="1" i="0">
                <a:solidFill>
                  <a:srgbClr val="6B6560"/>
                </a:solidFill>
                <a:latin typeface="Segoe UI"/>
              </a:rPr>
              <a:t>[Normocytic: MCV 80–100 fL]</a:t>
            </a:r>
            <a:r>
              <a:rPr sz="1200" b="0" i="0">
                <a:solidFill>
                  <a:srgbClr val="6B6560"/>
                </a:solidFill>
                <a:latin typeface="Segoe UI"/>
              </a:rPr>
              <a:t> — think anemia of chronic disease, early iron deficiency, renal anemia, hypothyroidism, mixed deficiency, or early bone marrow pathology.</a:t>
            </a:r>
          </a:p>
          <a:p>
            <a:pPr algn="l">
              <a:spcBef>
                <a:spcPts val="0"/>
              </a:spcBef>
              <a:spcAft>
                <a:spcPts val="600"/>
              </a:spcAft>
            </a:pPr>
            <a:r>
              <a:rPr sz="1100" b="1" i="0">
                <a:solidFill>
                  <a:srgbClr val="7A3B1E"/>
                </a:solidFill>
                <a:latin typeface="Segoe UI"/>
              </a:rPr>
              <a:t>[Macrocytic: MCV &gt; 100 fL]</a:t>
            </a:r>
            <a:r>
              <a:rPr sz="1200" b="0" i="0">
                <a:solidFill>
                  <a:srgbClr val="6B6560"/>
                </a:solidFill>
                <a:latin typeface="Segoe UI"/>
              </a:rPr>
              <a:t> — think B12 deficiency, folate deficiency, hypothyroidism, alcohol use, medications (methotrexate, hydroxyurea, zidovudine), or myelodysplastic syndrome in older patients.</a:t>
            </a:r>
          </a:p>
          <a:p>
            <a:pPr algn="l">
              <a:spcBef>
                <a:spcPts val="0"/>
              </a:spcBef>
              <a:spcAft>
                <a:spcPts val="600"/>
              </a:spcAft>
            </a:pPr>
            <a:r>
              <a:rPr sz="1200" b="0" i="0">
                <a:solidFill>
                  <a:srgbClr val="6B6560"/>
                </a:solidFill>
                <a:latin typeface="Segoe UI"/>
              </a:rPr>
              <a:t>MCV is your first branch point. Every subsequent test order flows from this categorization.</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480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617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MCV is normal but the hemoglobin is low. Does that mean it's anemia of chronic disease?</a:t>
            </a:r>
          </a:p>
        </p:txBody>
      </p:sp>
      <p:sp>
        <p:nvSpPr>
          <p:cNvPr id="12" name="TextBox 11"/>
          <p:cNvSpPr txBox="1"/>
          <p:nvPr/>
        </p:nvSpPr>
        <p:spPr>
          <a:xfrm>
            <a:off x="731520" y="5029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Normocytic anemia is the broadest category and requires the most differential thinking. Anemia of chronic disease is common but should be a diagnosis of context — meaning the patient has a known chronic inflammatory condition (rheumatoid arthritis, IBD, malignancy, CKD) that explains it.</a:t>
            </a:r>
          </a:p>
          <a:p>
            <a:pPr algn="l">
              <a:spcBef>
                <a:spcPts val="0"/>
              </a:spcBef>
              <a:spcAft>
                <a:spcPts val="600"/>
              </a:spcAft>
            </a:pPr>
            <a:r>
              <a:rPr sz="1200" b="0" i="0">
                <a:solidFill>
                  <a:srgbClr val="6B6560"/>
                </a:solidFill>
                <a:latin typeface="Segoe UI"/>
              </a:rPr>
              <a:t>Normocytic anemia without a clear chronic disease context requires reticulocyte count as the next step to distinguish between underproduction and loss or destruction.</a:t>
            </a:r>
          </a:p>
        </p:txBody>
      </p:sp>
      <p:sp>
        <p:nvSpPr>
          <p:cNvPr id="13" name="Rectangle 12"/>
          <p:cNvSpPr/>
          <p:nvPr/>
        </p:nvSpPr>
        <p:spPr>
          <a:xfrm>
            <a:off x="594360" y="5029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F1 — Reading the CBC — MCV as your first branch point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RDW is elevated. What does that tell me?</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Elevated RDW (red cell distribution width) indicates anisocytosis — a mixed population of cell sizes. This is particularly useful in two scenarios:</a:t>
            </a:r>
          </a:p>
          <a:p>
            <a:pPr algn="l">
              <a:spcBef>
                <a:spcPts val="0"/>
              </a:spcBef>
              <a:spcAft>
                <a:spcPts val="600"/>
              </a:spcAft>
            </a:pPr>
            <a:r>
              <a:rPr sz="1200" b="0" i="0">
                <a:solidFill>
                  <a:srgbClr val="6B6560"/>
                </a:solidFill>
                <a:latin typeface="Segoe UI"/>
              </a:rPr>
              <a:t>(1) A microcytic anemia with high RDW suggests iron deficiency rather than thalassemia (thalassemia tends to have normal or low RDW despite low MCV).</a:t>
            </a:r>
          </a:p>
          <a:p>
            <a:pPr algn="l">
              <a:spcBef>
                <a:spcPts val="0"/>
              </a:spcBef>
              <a:spcAft>
                <a:spcPts val="600"/>
              </a:spcAft>
            </a:pPr>
            <a:r>
              <a:rPr sz="1200" b="0" i="0">
                <a:solidFill>
                  <a:srgbClr val="6B6560"/>
                </a:solidFill>
                <a:latin typeface="Segoe UI"/>
              </a:rPr>
              <a:t>(2) A normocytic anemia with high RDW may indicate a mixed deficiency — iron plus B12 or folate — where the two processes cancel each other out in terms of MCV while the RDW reflects the heterogeneity. When the MCV looks normal but the RDW is high, order both iron studies and B12/folate.</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4290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5661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Should I be looking at the differential on every anemia CBC?</a:t>
            </a:r>
          </a:p>
        </p:txBody>
      </p:sp>
      <p:sp>
        <p:nvSpPr>
          <p:cNvPr id="9" name="TextBox 8"/>
          <p:cNvSpPr txBox="1"/>
          <p:nvPr/>
        </p:nvSpPr>
        <p:spPr>
          <a:xfrm>
            <a:off x="731520" y="39776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the differential provides information the MCV alone cannot. Hypersegmented neutrophils (≥ 5 lobes) are a classic finding in B12 or folate deficiency and may precede macrocytosis. Target cells suggest hemoglobinopathy or liver disease.</a:t>
            </a:r>
          </a:p>
          <a:p>
            <a:pPr algn="l">
              <a:spcBef>
                <a:spcPts val="0"/>
              </a:spcBef>
              <a:spcAft>
                <a:spcPts val="600"/>
              </a:spcAft>
            </a:pPr>
            <a:r>
              <a:rPr sz="1100" b="1" i="0">
                <a:solidFill>
                  <a:srgbClr val="7A3B1E"/>
                </a:solidFill>
                <a:latin typeface="Segoe UI"/>
              </a:rPr>
              <a:t>[Schistocytes]</a:t>
            </a:r>
            <a:r>
              <a:rPr sz="1200" b="0" i="0">
                <a:solidFill>
                  <a:srgbClr val="6B6560"/>
                </a:solidFill>
                <a:latin typeface="Segoe UI"/>
              </a:rPr>
              <a:t> (fragmented RBCs) indicate microangiopathic hemolytic anemia — TTP, HUS, DIC — and are an emergency finding. If you see schistocytes on a differential, escalate immediately.</a:t>
            </a:r>
          </a:p>
        </p:txBody>
      </p:sp>
      <p:sp>
        <p:nvSpPr>
          <p:cNvPr id="10" name="Rectangle 9"/>
          <p:cNvSpPr/>
          <p:nvPr/>
        </p:nvSpPr>
        <p:spPr>
          <a:xfrm>
            <a:off x="594360" y="39776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4864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F2</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RETICULOCYTE COUNT</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Production vs. destruction vs. loss — why this test matters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does the reticulocyte count tell me that the CBC doesn't?</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The reticulocyte count tells you what the bone marrow is doing in response to the anemia. A normal bone marrow facing anemia should increase production — reticulocytes should rise. If they don't, the problem is in the bone marrow or in the substrate (iron, B12, folate). If they are elevated, the marrow is responding appropriately, which means the problem is peripheral — blood loss or destruction (hemolysis).</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8803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175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do I interpret the reticulocyte count correctly?</a:t>
            </a:r>
          </a:p>
        </p:txBody>
      </p:sp>
      <p:sp>
        <p:nvSpPr>
          <p:cNvPr id="12" name="TextBox 11"/>
          <p:cNvSpPr txBox="1"/>
          <p:nvPr/>
        </p:nvSpPr>
        <p:spPr>
          <a:xfrm>
            <a:off x="731520" y="34290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Use the reticulocyte production index (RPI) rather than the raw reticulocyte percentage, which is misleading in anemia because it is expressed as a percentage of a smaller RBC pool:</a:t>
            </a:r>
          </a:p>
          <a:p>
            <a:pPr algn="l">
              <a:spcBef>
                <a:spcPts val="0"/>
              </a:spcBef>
              <a:spcAft>
                <a:spcPts val="600"/>
              </a:spcAft>
            </a:pPr>
            <a:r>
              <a:rPr sz="1200" b="1" i="0">
                <a:solidFill>
                  <a:srgbClr val="1C1A16"/>
                </a:solidFill>
                <a:latin typeface="Segoe UI"/>
              </a:rPr>
              <a:t>RPI = (reticulocyte % × patient hematocrit) ÷ 45</a:t>
            </a:r>
          </a:p>
          <a:p>
            <a:pPr algn="l">
              <a:spcBef>
                <a:spcPts val="0"/>
              </a:spcBef>
              <a:spcAft>
                <a:spcPts val="600"/>
              </a:spcAft>
            </a:pPr>
            <a:r>
              <a:rPr sz="1100" b="1" i="0">
                <a:solidFill>
                  <a:srgbClr val="7A3B1E"/>
                </a:solidFill>
                <a:latin typeface="Segoe UI"/>
              </a:rPr>
              <a:t>[RPI &lt; 2: hypoproliferative]</a:t>
            </a:r>
            <a:r>
              <a:rPr sz="1200" b="0" i="0">
                <a:solidFill>
                  <a:srgbClr val="6B6560"/>
                </a:solidFill>
                <a:latin typeface="Segoe UI"/>
              </a:rPr>
              <a:t> — bone marrow is not responding appropriately. Think iron deficiency, B12/folate deficiency, anemia of chronic disease, renal anemia, or bone marrow pathology.</a:t>
            </a:r>
          </a:p>
          <a:p>
            <a:pPr algn="l">
              <a:spcBef>
                <a:spcPts val="0"/>
              </a:spcBef>
              <a:spcAft>
                <a:spcPts val="600"/>
              </a:spcAft>
            </a:pPr>
            <a:r>
              <a:rPr sz="1100" b="1" i="0">
                <a:solidFill>
                  <a:srgbClr val="1A5C3A"/>
                </a:solidFill>
                <a:latin typeface="Segoe UI"/>
              </a:rPr>
              <a:t>[RPI &gt; 2: hyperproliferative]</a:t>
            </a:r>
            <a:r>
              <a:rPr sz="1200" b="0" i="0">
                <a:solidFill>
                  <a:srgbClr val="6B6560"/>
                </a:solidFill>
                <a:latin typeface="Segoe UI"/>
              </a:rPr>
              <a:t> — marrow is responding. Think hemolysis or acute blood loss.</a:t>
            </a:r>
          </a:p>
        </p:txBody>
      </p:sp>
      <p:sp>
        <p:nvSpPr>
          <p:cNvPr id="13" name="Rectangle 12"/>
          <p:cNvSpPr/>
          <p:nvPr/>
        </p:nvSpPr>
        <p:spPr>
          <a:xfrm>
            <a:off x="594360" y="34290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623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 ordered a reticulocyte count and it came back as a percentage only. Is that enough?</a:t>
            </a:r>
          </a:p>
        </p:txBody>
      </p:sp>
      <p:sp>
        <p:nvSpPr>
          <p:cNvPr id="16" name="TextBox 15"/>
          <p:cNvSpPr txBox="1"/>
          <p:nvPr/>
        </p:nvSpPr>
        <p:spPr>
          <a:xfrm>
            <a:off x="731520" y="6172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 raw percentage without the RPI calculation is limited — you need to interpret it in context. A reticulocyte percentage of 2.5% sounds elevated but may represent an RPI of 1.2 in a severely anemic patient, indicating an inadequate response.</a:t>
            </a:r>
          </a:p>
          <a:p>
            <a:pPr algn="l">
              <a:spcBef>
                <a:spcPts val="0"/>
              </a:spcBef>
              <a:spcAft>
                <a:spcPts val="600"/>
              </a:spcAft>
            </a:pPr>
            <a:r>
              <a:rPr sz="1200" b="0" i="0">
                <a:solidFill>
                  <a:srgbClr val="6B6560"/>
                </a:solidFill>
                <a:latin typeface="Segoe UI"/>
              </a:rPr>
              <a:t>Do the RPI calculation yourself using the formula above and document it in the note.</a:t>
            </a:r>
          </a:p>
        </p:txBody>
      </p:sp>
      <p:sp>
        <p:nvSpPr>
          <p:cNvPr id="17" name="Rectangle 16"/>
          <p:cNvSpPr/>
          <p:nvPr/>
        </p:nvSpPr>
        <p:spPr>
          <a:xfrm>
            <a:off x="594360" y="6172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F3</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IRON STUDIES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Iron deficiency — diagnosing and treating correctly</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is the most reliable test for iron deficiency?</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Ferritin is the most sensitive single marker for iron deficiency when low — a ferritin &lt; 30 ng/mL is highly specific for iron deficiency in most clinical contexts. However, ferritin is an acute phase reactant and is elevated by inflammation, infection, liver disease, and malignancy.</a:t>
            </a:r>
          </a:p>
          <a:p>
            <a:pPr algn="l">
              <a:spcBef>
                <a:spcPts val="0"/>
              </a:spcBef>
              <a:spcAft>
                <a:spcPts val="600"/>
              </a:spcAft>
            </a:pPr>
            <a:r>
              <a:rPr sz="1200" b="0" i="0">
                <a:solidFill>
                  <a:srgbClr val="6B6560"/>
                </a:solidFill>
                <a:latin typeface="Segoe UI"/>
              </a:rPr>
              <a:t>A patient with an inflammatory condition can have a ferritin of 80 ng/mL and still be iron deficient. In the context of chronic inflammation, a ferritin up to 100 ng/mL does not exclude iron deficiency — transferrin saturation &lt; 20% in this context supports the diagnosis. Use the full panel: serum iron, TIBC, ferritin, and transferrin saturation together.</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794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931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I've confirmed iron deficiency. How do I treat it?</a:t>
            </a:r>
          </a:p>
        </p:txBody>
      </p:sp>
      <p:sp>
        <p:nvSpPr>
          <p:cNvPr id="12" name="TextBox 11"/>
          <p:cNvSpPr txBox="1"/>
          <p:nvPr/>
        </p:nvSpPr>
        <p:spPr>
          <a:xfrm>
            <a:off x="731520" y="43434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Oral iron is first-line for most patients:</a:t>
            </a:r>
          </a:p>
          <a:p>
            <a:pPr algn="l">
              <a:spcBef>
                <a:spcPts val="0"/>
              </a:spcBef>
              <a:spcAft>
                <a:spcPts val="600"/>
              </a:spcAft>
            </a:pPr>
            <a:r>
              <a:rPr sz="1100" b="1" i="0">
                <a:solidFill>
                  <a:srgbClr val="6B6560"/>
                </a:solidFill>
                <a:latin typeface="Segoe UI"/>
              </a:rPr>
              <a:t>[Ferrous sulfate 325 mg (65 mg elemental iron) every other day]</a:t>
            </a:r>
            <a:r>
              <a:rPr sz="1200" b="0" i="0">
                <a:solidFill>
                  <a:srgbClr val="6B6560"/>
                </a:solidFill>
                <a:latin typeface="Segoe UI"/>
              </a:rPr>
              <a:t> — as effective as daily dosing with significantly fewer GI side effects. This is a meaningful recent evidence update from the older twice-daily standard.</a:t>
            </a:r>
          </a:p>
          <a:p>
            <a:pPr algn="l">
              <a:spcBef>
                <a:spcPts val="0"/>
              </a:spcBef>
              <a:spcAft>
                <a:spcPts val="600"/>
              </a:spcAft>
            </a:pPr>
            <a:r>
              <a:rPr sz="1200" b="0" i="0">
                <a:solidFill>
                  <a:srgbClr val="6B6560"/>
                </a:solidFill>
                <a:latin typeface="Segoe UI"/>
              </a:rPr>
              <a:t>Take on an empty stomach with vitamin C (orange juice) to maximize absorption. Avoid within 2 hours of calcium, antacids, PPIs, or thyroid medication.</a:t>
            </a:r>
          </a:p>
          <a:p>
            <a:pPr algn="l">
              <a:spcBef>
                <a:spcPts val="0"/>
              </a:spcBef>
              <a:spcAft>
                <a:spcPts val="600"/>
              </a:spcAft>
            </a:pPr>
            <a:r>
              <a:rPr sz="1200" b="0" i="0">
                <a:solidFill>
                  <a:srgbClr val="6B6560"/>
                </a:solidFill>
                <a:latin typeface="Segoe UI"/>
              </a:rPr>
              <a:t>Recheck CBC and reticulocyte count in 4 weeks — you should see reticulocyte response within 1–2 weeks and hemoglobin rise of 1–2 g/dL by 4 weeks if the diagnosis and absorption are correct.</a:t>
            </a:r>
          </a:p>
          <a:p>
            <a:pPr algn="l">
              <a:spcBef>
                <a:spcPts val="0"/>
              </a:spcBef>
              <a:spcAft>
                <a:spcPts val="600"/>
              </a:spcAft>
            </a:pPr>
            <a:r>
              <a:rPr sz="1200" b="0" i="0">
                <a:solidFill>
                  <a:srgbClr val="6B6560"/>
                </a:solidFill>
                <a:latin typeface="Segoe UI"/>
              </a:rPr>
              <a:t>Continue treatment for 3 months after hemoglobin normalizes to replete stores.</a:t>
            </a:r>
          </a:p>
        </p:txBody>
      </p:sp>
      <p:sp>
        <p:nvSpPr>
          <p:cNvPr id="13" name="Rectangle 12"/>
          <p:cNvSpPr/>
          <p:nvPr/>
        </p:nvSpPr>
        <p:spPr>
          <a:xfrm>
            <a:off x="594360" y="4343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F3 — Iron deficiency — diagnosing and treating correctly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 cannot tolerate oral iron or has a PPI she won't stop. What are my options?</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IV iron is appropriate and effective for patients with malabsorption, intolerance to oral iron, inflammatory bowel disease, or who are on PPIs that cannot be discontinued. IV iron formulations (ferric carboxymaltose, low molecular weight iron dextran, ferumoxytol) can be administered in an infusion center.</a:t>
            </a:r>
          </a:p>
          <a:p>
            <a:pPr algn="l">
              <a:spcBef>
                <a:spcPts val="0"/>
              </a:spcBef>
              <a:spcAft>
                <a:spcPts val="600"/>
              </a:spcAft>
            </a:pPr>
            <a:r>
              <a:rPr sz="1200" b="0" i="0">
                <a:solidFill>
                  <a:srgbClr val="6B6560"/>
                </a:solidFill>
                <a:latin typeface="Segoe UI"/>
              </a:rPr>
              <a:t>This is within primary care scope to order — you do not need hematology referral to initiate IV iron in uncomplicated iron deficiency anemia.</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7432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803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 found iron deficiency. Do I need to find the source?</a:t>
            </a:r>
          </a:p>
        </p:txBody>
      </p:sp>
      <p:sp>
        <p:nvSpPr>
          <p:cNvPr id="9" name="TextBox 8"/>
          <p:cNvSpPr txBox="1"/>
          <p:nvPr/>
        </p:nvSpPr>
        <p:spPr>
          <a:xfrm>
            <a:off x="731520" y="32918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In most cases yes — iron deficiency in an adult is blood loss until proven otherwise. In premenopausal women with heavy menstrual bleeding, the source is often clinically apparent and colonoscopy is not mandatory in the absence of GI symptoms or red flags.</a:t>
            </a:r>
          </a:p>
          <a:p>
            <a:pPr algn="l">
              <a:spcBef>
                <a:spcPts val="0"/>
              </a:spcBef>
              <a:spcAft>
                <a:spcPts val="600"/>
              </a:spcAft>
            </a:pPr>
            <a:r>
              <a:rPr sz="1100" b="1" i="0">
                <a:solidFill>
                  <a:srgbClr val="7A3B1E"/>
                </a:solidFill>
                <a:latin typeface="Segoe UI"/>
              </a:rPr>
              <a:t>[In men and postmenopausal women]</a:t>
            </a:r>
            <a:r>
              <a:rPr sz="1200" b="0" i="0">
                <a:solidFill>
                  <a:srgbClr val="6B6560"/>
                </a:solidFill>
                <a:latin typeface="Segoe UI"/>
              </a:rPr>
              <a:t>, iron deficiency requires GI evaluation — upper endoscopy and colonoscopy — to exclude occult GI blood loss including malignancy. Do not treat iron deficiency in a postmenopausal woman or any man without addressing the question of GI source.</a:t>
            </a:r>
          </a:p>
        </p:txBody>
      </p:sp>
      <p:sp>
        <p:nvSpPr>
          <p:cNvPr id="10" name="Rectangle 9"/>
          <p:cNvSpPr/>
          <p:nvPr/>
        </p:nvSpPr>
        <p:spPr>
          <a:xfrm>
            <a:off x="594360" y="32918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0292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1663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Ferritin is 150 and transferrin saturation is 15%. Is this iron deficiency?</a:t>
            </a:r>
          </a:p>
        </p:txBody>
      </p:sp>
      <p:sp>
        <p:nvSpPr>
          <p:cNvPr id="13" name="TextBox 12"/>
          <p:cNvSpPr txBox="1"/>
          <p:nvPr/>
        </p:nvSpPr>
        <p:spPr>
          <a:xfrm>
            <a:off x="731520" y="55778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Possibly — this pattern (normal or elevated ferritin, low transferrin saturation) in the context of chronic inflammation is called functional iron deficiency or iron-restricted erythropoiesis. The iron exists in stores but is not being released for use. This is distinct from absolute iron deficiency and is the hallmark of anemia of chronic disease with iron restriction.</a:t>
            </a:r>
          </a:p>
          <a:p>
            <a:pPr algn="l">
              <a:spcBef>
                <a:spcPts val="0"/>
              </a:spcBef>
              <a:spcAft>
                <a:spcPts val="600"/>
              </a:spcAft>
            </a:pPr>
            <a:r>
              <a:rPr sz="1200" b="0" i="0">
                <a:solidFill>
                  <a:srgbClr val="6B6560"/>
                </a:solidFill>
                <a:latin typeface="Segoe UI"/>
              </a:rPr>
              <a:t>Treatment depends on the underlying condition — treating the inflammation is the primary intervention, supplemental iron has limited benefit in pure anemia of chronic disease, and IV iron may be considered in select cases (particularly CKD — see CKD module).</a:t>
            </a:r>
          </a:p>
        </p:txBody>
      </p:sp>
      <p:sp>
        <p:nvSpPr>
          <p:cNvPr id="14" name="Rectangle 13"/>
          <p:cNvSpPr/>
          <p:nvPr/>
        </p:nvSpPr>
        <p:spPr>
          <a:xfrm>
            <a:off x="594360" y="55778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F4</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B12 AND FOLATE</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Macrocytic anemia — deficiencies and their distinctions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When should I order B12 and folate?</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Always order both when MCV &gt; 100. Also consider ordering in: normocytic anemia with elevated RDW, hypersegmented neutrophils on differential, neurological symptoms (peripheral neuropathy, cognitive change, balance problems), history of gastric bypass or significant GI resection, strict vegan diet without supplementation, chronic PPI use (reduces B12 absorption over years), metformin use (reduces B12 absorption — check annually in long-term users), or active alcohol use disorder.</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B12 level is 250 pg/mL — normal range starts at 200. Is this enough to exclude deficiency?</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 — serum B12 is an unreliable marker at the low-normal range. Levels between 200–400 pg/mL can be associated with functional deficiency, particularly in symptomatic patients.</a:t>
            </a:r>
          </a:p>
          <a:p>
            <a:pPr algn="l">
              <a:spcBef>
                <a:spcPts val="0"/>
              </a:spcBef>
              <a:spcAft>
                <a:spcPts val="600"/>
              </a:spcAft>
            </a:pPr>
            <a:r>
              <a:rPr sz="1200" b="0" i="0">
                <a:solidFill>
                  <a:srgbClr val="6B6560"/>
                </a:solidFill>
                <a:latin typeface="Segoe UI"/>
              </a:rPr>
              <a:t>If clinical suspicion is present, order methylmalonic acid (MMA) and homocysteine — both are elevated in B12 deficiency and are more sensitive markers of functional deficiency than serum B12 alone. A normal MMA effectively excludes B12 deficiency regardless of the serum level.</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394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532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I've confirmed B12 deficiency. Do I need to find the cause before treating?</a:t>
            </a:r>
          </a:p>
        </p:txBody>
      </p:sp>
      <p:sp>
        <p:nvSpPr>
          <p:cNvPr id="16" name="TextBox 15"/>
          <p:cNvSpPr txBox="1"/>
          <p:nvPr/>
        </p:nvSpPr>
        <p:spPr>
          <a:xfrm>
            <a:off x="731520" y="5943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Treat first, investigate in parallel. B12 deficiency with neurological symptoms is a semi-urgent treatment situation — neurological damage from B12 deficiency can be permanent if prolonged. Initiate replacement immediately.</a:t>
            </a:r>
          </a:p>
          <a:p>
            <a:pPr algn="l">
              <a:spcBef>
                <a:spcPts val="0"/>
              </a:spcBef>
              <a:spcAft>
                <a:spcPts val="600"/>
              </a:spcAft>
            </a:pPr>
            <a:r>
              <a:rPr sz="1200" b="0" i="0">
                <a:solidFill>
                  <a:srgbClr val="6B6560"/>
                </a:solidFill>
                <a:latin typeface="Segoe UI"/>
              </a:rPr>
              <a:t>The most common cause in older adults is pernicious anemia (autoimmune gastritis with intrinsic factor deficiency) — check anti-intrinsic factor antibody and anti-parietal cell antibody. If pernicious anemia is confirmed, parenteral B12 (IM cyanocobalamin) is traditionally used, though high-dose oral B12 (1000–2000 mcg daily) is absorbed adequately via passive diffusion even without intrinsic factor and is now considered equivalent by most guidelines.</a:t>
            </a:r>
          </a:p>
        </p:txBody>
      </p:sp>
      <p:sp>
        <p:nvSpPr>
          <p:cNvPr id="17" name="Rectangle 16"/>
          <p:cNvSpPr/>
          <p:nvPr/>
        </p:nvSpPr>
        <p:spPr>
          <a:xfrm>
            <a:off x="594360" y="5943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F4 — Macrocytic anemia — deficiencies and their distinctions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Folate is low. Is the workup the same as B12?</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Folate deficiency is simpler in etiology — it is almost always dietary (poor intake, alcohol use disorder, malabsorption) or medication-related (methotrexate, trimethoprim, phenytoin). Unlike B12 deficiency, folate deficiency does not cause neurological symptoms — if a macrocytic anemia patient has neurological symptoms, look harder at B12 regardless of folate level.</a:t>
            </a:r>
          </a:p>
          <a:p>
            <a:pPr algn="l">
              <a:spcBef>
                <a:spcPts val="0"/>
              </a:spcBef>
              <a:spcAft>
                <a:spcPts val="600"/>
              </a:spcAft>
            </a:pPr>
            <a:r>
              <a:rPr sz="1200" b="0" i="0">
                <a:solidFill>
                  <a:srgbClr val="6B6560"/>
                </a:solidFill>
                <a:latin typeface="Segoe UI"/>
              </a:rPr>
              <a:t>Treatment is oral folic acid 1 mg daily. Identify and address the underlying cause — folate deficiency in a patient not on a causative medication should prompt dietary and alcohol use assessment.</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2004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3375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 is on methotrexate and has macrocytic anemia. Is this just expected?</a:t>
            </a:r>
          </a:p>
        </p:txBody>
      </p:sp>
      <p:sp>
        <p:nvSpPr>
          <p:cNvPr id="9" name="TextBox 8"/>
          <p:cNvSpPr txBox="1"/>
          <p:nvPr/>
        </p:nvSpPr>
        <p:spPr>
          <a:xfrm>
            <a:off x="731520" y="37490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Methotrexate causes macrocytosis by folate antagonism — this is an expected pharmacological effect and does not necessarily indicate deficiency or require dose change. However, if the anemia is significant or the patient is symptomatic, check folate level and ensure they are on folic acid supplementation (standard with methotrexate therapy).</a:t>
            </a:r>
          </a:p>
          <a:p>
            <a:pPr algn="l">
              <a:spcBef>
                <a:spcPts val="0"/>
              </a:spcBef>
              <a:spcAft>
                <a:spcPts val="600"/>
              </a:spcAft>
            </a:pPr>
            <a:r>
              <a:rPr sz="1200" b="0" i="0">
                <a:solidFill>
                  <a:srgbClr val="6B6560"/>
                </a:solidFill>
                <a:latin typeface="Segoe UI"/>
              </a:rPr>
              <a:t>Coordinate with the prescribing provider before making changes to the methotrexate regimen.</a:t>
            </a:r>
          </a:p>
        </p:txBody>
      </p:sp>
      <p:sp>
        <p:nvSpPr>
          <p:cNvPr id="10" name="Rectangle 9"/>
          <p:cNvSpPr/>
          <p:nvPr/>
        </p:nvSpPr>
        <p:spPr>
          <a:xfrm>
            <a:off x="594360" y="37490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2578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F5</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SEVERE OR SYMPTOMATIC ANEMIA</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When anemia is urgent — thresholds and immediate management</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are the symptoms that make any hemoglobin level urgent?</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Chest pain, dyspnea at rest, tachycardia, hypotension, syncope, or altered mental status in the context of anemia require same-day evaluation regardless of the absolute hemoglobin level.</a:t>
            </a:r>
          </a:p>
          <a:p>
            <a:pPr algn="l">
              <a:spcBef>
                <a:spcPts val="0"/>
              </a:spcBef>
              <a:spcAft>
                <a:spcPts val="600"/>
              </a:spcAft>
            </a:pPr>
            <a:r>
              <a:rPr sz="1200" b="0" i="0">
                <a:solidFill>
                  <a:srgbClr val="6B6560"/>
                </a:solidFill>
                <a:latin typeface="Segoe UI"/>
              </a:rPr>
              <a:t>A patient with hemoglobin of 9 g/dL who is having chest pain and tachycardia is more urgent than a patient with hemoglobin of 6.5 g/dL who is ambulatory and asymptomatic. Symptoms drive urgency more than numbers.</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At what hemoglobin level should I be considering transfusion?</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Transfusion thresholds in stable outpatients:</a:t>
            </a:r>
          </a:p>
          <a:p>
            <a:pPr algn="l">
              <a:spcBef>
                <a:spcPts val="0"/>
              </a:spcBef>
              <a:spcAft>
                <a:spcPts val="600"/>
              </a:spcAft>
            </a:pPr>
            <a:r>
              <a:rPr sz="1100" b="1" i="0">
                <a:solidFill>
                  <a:srgbClr val="7A3B1E"/>
                </a:solidFill>
                <a:latin typeface="Segoe UI"/>
              </a:rPr>
              <a:t>[Hemoglobin &lt; 7 g/dL]</a:t>
            </a:r>
            <a:r>
              <a:rPr sz="1200" b="0" i="0">
                <a:solidFill>
                  <a:srgbClr val="6B6560"/>
                </a:solidFill>
                <a:latin typeface="Segoe UI"/>
              </a:rPr>
              <a:t> — transfusion is generally indicated in symptomatic patients. In asymptomatic, young, otherwise healthy patients with a clearly reversible cause (iron deficiency being actively treated), watchful waiting with close monitoring is sometimes appropriate — discuss with hematology.</a:t>
            </a:r>
          </a:p>
          <a:p>
            <a:pPr algn="l">
              <a:spcBef>
                <a:spcPts val="0"/>
              </a:spcBef>
              <a:spcAft>
                <a:spcPts val="600"/>
              </a:spcAft>
            </a:pPr>
            <a:r>
              <a:rPr sz="1100" b="1" i="0">
                <a:solidFill>
                  <a:srgbClr val="6B6560"/>
                </a:solidFill>
                <a:latin typeface="Segoe UI"/>
              </a:rPr>
              <a:t>[Hemoglobin 7–8 g/dL]</a:t>
            </a:r>
            <a:r>
              <a:rPr sz="1200" b="0" i="0">
                <a:solidFill>
                  <a:srgbClr val="6B6560"/>
                </a:solidFill>
                <a:latin typeface="Segoe UI"/>
              </a:rPr>
              <a:t> — transfusion guided by symptoms and underlying condition. Patients with cardiac disease or limited cardiopulmonary reserve may need transfusion at higher thresholds.</a:t>
            </a:r>
          </a:p>
          <a:p>
            <a:pPr algn="l">
              <a:spcBef>
                <a:spcPts val="0"/>
              </a:spcBef>
              <a:spcAft>
                <a:spcPts val="600"/>
              </a:spcAft>
            </a:pPr>
            <a:r>
              <a:rPr sz="1100" b="1" i="0">
                <a:solidFill>
                  <a:srgbClr val="1A5C3A"/>
                </a:solidFill>
                <a:latin typeface="Segoe UI"/>
              </a:rPr>
              <a:t>[Hemoglobin &gt; 8 g/dL]</a:t>
            </a:r>
            <a:r>
              <a:rPr sz="1200" b="0" i="0">
                <a:solidFill>
                  <a:srgbClr val="6B6560"/>
                </a:solidFill>
                <a:latin typeface="Segoe UI"/>
              </a:rPr>
              <a:t> — transfusion rarely indicated in stable outpatients without active bleeding or severe symptoms.</a:t>
            </a:r>
          </a:p>
          <a:p>
            <a:pPr algn="l">
              <a:spcBef>
                <a:spcPts val="0"/>
              </a:spcBef>
              <a:spcAft>
                <a:spcPts val="600"/>
              </a:spcAft>
            </a:pPr>
            <a:r>
              <a:rPr sz="1200" b="0" i="0">
                <a:solidFill>
                  <a:srgbClr val="6B6560"/>
                </a:solidFill>
                <a:latin typeface="Segoe UI"/>
              </a:rPr>
              <a:t>Outpatient transfusion can be arranged through infusion centers — this does not require ER admission for a stable but significantly anemic patient.</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F5 — When anemia is urgent — thresholds and immediate management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has hemoglobin of 6.8 and is mildly symptomatic on exertion. Do I send them to the ER?</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Not necessarily — if the patient is stable, ambulatory, not having chest pain or tachycardia, and you can arrange outpatient transfusion within 24–48 hours, this is manageable without an ER visit. Call the infusion center, arrange the transfusion, and ensure the patient has clear return precautions.</a:t>
            </a:r>
          </a:p>
          <a:p>
            <a:pPr algn="l">
              <a:spcBef>
                <a:spcPts val="0"/>
              </a:spcBef>
              <a:spcAft>
                <a:spcPts val="600"/>
              </a:spcAft>
            </a:pPr>
            <a:r>
              <a:rPr sz="1200" b="0" i="0">
                <a:solidFill>
                  <a:srgbClr val="6B6560"/>
                </a:solidFill>
                <a:latin typeface="Segoe UI"/>
              </a:rPr>
              <a:t>If outpatient transfusion cannot be arranged promptly or the patient's condition is at all unstable, send to the ER with a direct communication to the receiving team.</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9718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F6</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UNEXPLAINED ANEMIA</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Workup complete — still no answer</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I've done the full initial workup and I can't explain the anemia. What have I potentially missed?</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Review this list before the e-consult:</a:t>
            </a:r>
          </a:p>
          <a:p>
            <a:pPr algn="l">
              <a:spcBef>
                <a:spcPts val="0"/>
              </a:spcBef>
              <a:spcAft>
                <a:spcPts val="600"/>
              </a:spcAft>
            </a:pPr>
            <a:r>
              <a:rPr sz="1100" b="1" i="0">
                <a:solidFill>
                  <a:srgbClr val="6B6560"/>
                </a:solidFill>
                <a:latin typeface="Segoe UI"/>
              </a:rPr>
              <a:t>[Hypothyroidism]</a:t>
            </a:r>
            <a:r>
              <a:rPr sz="1200" b="0" i="0">
                <a:solidFill>
                  <a:srgbClr val="6B6560"/>
                </a:solidFill>
                <a:latin typeface="Segoe UI"/>
              </a:rPr>
              <a:t> — TSH should be part of any unexplained normocytic or macrocytic anemia workup.</a:t>
            </a:r>
          </a:p>
          <a:p>
            <a:pPr algn="l">
              <a:spcBef>
                <a:spcPts val="0"/>
              </a:spcBef>
              <a:spcAft>
                <a:spcPts val="600"/>
              </a:spcAft>
            </a:pPr>
            <a:r>
              <a:rPr sz="1100" b="1" i="0">
                <a:solidFill>
                  <a:srgbClr val="6B6560"/>
                </a:solidFill>
                <a:latin typeface="Segoe UI"/>
              </a:rPr>
              <a:t>[Renal insufficiency]</a:t>
            </a:r>
            <a:r>
              <a:rPr sz="1200" b="0" i="0">
                <a:solidFill>
                  <a:srgbClr val="6B6560"/>
                </a:solidFill>
                <a:latin typeface="Segoe UI"/>
              </a:rPr>
              <a:t> — check creatinine and eGFR; anemia of CKD is common and underrecognized.</a:t>
            </a:r>
          </a:p>
          <a:p>
            <a:pPr algn="l">
              <a:spcBef>
                <a:spcPts val="0"/>
              </a:spcBef>
              <a:spcAft>
                <a:spcPts val="600"/>
              </a:spcAft>
            </a:pPr>
            <a:r>
              <a:rPr sz="1100" b="1" i="0">
                <a:solidFill>
                  <a:srgbClr val="6B6560"/>
                </a:solidFill>
                <a:latin typeface="Segoe UI"/>
              </a:rPr>
              <a:t>[Chronic liver disease]</a:t>
            </a:r>
            <a:r>
              <a:rPr sz="1200" b="0" i="0">
                <a:solidFill>
                  <a:srgbClr val="6B6560"/>
                </a:solidFill>
                <a:latin typeface="Segoe UI"/>
              </a:rPr>
              <a:t> — LFTs, consider hepatitis screening.</a:t>
            </a:r>
          </a:p>
          <a:p>
            <a:pPr algn="l">
              <a:spcBef>
                <a:spcPts val="0"/>
              </a:spcBef>
              <a:spcAft>
                <a:spcPts val="600"/>
              </a:spcAft>
            </a:pPr>
            <a:r>
              <a:rPr sz="1100" b="1" i="0">
                <a:solidFill>
                  <a:srgbClr val="6B6560"/>
                </a:solidFill>
                <a:latin typeface="Segoe UI"/>
              </a:rPr>
              <a:t>[Lead toxicity]</a:t>
            </a:r>
            <a:r>
              <a:rPr sz="1200" b="0" i="0">
                <a:solidFill>
                  <a:srgbClr val="6B6560"/>
                </a:solidFill>
                <a:latin typeface="Segoe UI"/>
              </a:rPr>
              <a:t> — in patients with occupational exposure, recent immigration from high-exposure regions, or pica; order blood lead level.</a:t>
            </a:r>
          </a:p>
          <a:p>
            <a:pPr algn="l">
              <a:spcBef>
                <a:spcPts val="0"/>
              </a:spcBef>
              <a:spcAft>
                <a:spcPts val="600"/>
              </a:spcAft>
            </a:pPr>
            <a:r>
              <a:rPr sz="1100" b="1" i="0">
                <a:solidFill>
                  <a:srgbClr val="6B6560"/>
                </a:solidFill>
                <a:latin typeface="Segoe UI"/>
              </a:rPr>
              <a:t>[Medication review]</a:t>
            </a:r>
            <a:r>
              <a:rPr sz="1200" b="0" i="0">
                <a:solidFill>
                  <a:srgbClr val="6B6560"/>
                </a:solidFill>
                <a:latin typeface="Segoe UI"/>
              </a:rPr>
              <a:t> — many drugs cause anemia through various mechanisms; review the full medication list.</a:t>
            </a:r>
          </a:p>
          <a:p>
            <a:pPr algn="l">
              <a:spcBef>
                <a:spcPts val="0"/>
              </a:spcBef>
              <a:spcAft>
                <a:spcPts val="600"/>
              </a:spcAft>
            </a:pPr>
            <a:r>
              <a:rPr sz="1100" b="1" i="0">
                <a:solidFill>
                  <a:srgbClr val="6B6560"/>
                </a:solidFill>
                <a:latin typeface="Segoe UI"/>
              </a:rPr>
              <a:t>[Alcohol use]</a:t>
            </a:r>
            <a:r>
              <a:rPr sz="1200" b="0" i="0">
                <a:solidFill>
                  <a:srgbClr val="6B6560"/>
                </a:solidFill>
                <a:latin typeface="Segoe UI"/>
              </a:rPr>
              <a:t> — often underreported; ask directly.</a:t>
            </a:r>
          </a:p>
          <a:p>
            <a:pPr algn="l">
              <a:spcBef>
                <a:spcPts val="0"/>
              </a:spcBef>
              <a:spcAft>
                <a:spcPts val="600"/>
              </a:spcAft>
            </a:pPr>
            <a:r>
              <a:rPr sz="1100" b="1" i="0">
                <a:solidFill>
                  <a:srgbClr val="6B6560"/>
                </a:solidFill>
                <a:latin typeface="Segoe UI"/>
              </a:rPr>
              <a:t>[Inflammatory markers]</a:t>
            </a:r>
            <a:r>
              <a:rPr sz="1200" b="0" i="0">
                <a:solidFill>
                  <a:srgbClr val="6B6560"/>
                </a:solidFill>
                <a:latin typeface="Segoe UI"/>
              </a:rPr>
              <a:t> — ESR, CRP, ferritin as acute phase reactant; anemia of chronic inflammation may not have an obvious clinical source.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1663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3035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does the hematology e-consult ask look like for unexplained anemia?</a:t>
            </a:r>
          </a:p>
        </p:txBody>
      </p:sp>
      <p:sp>
        <p:nvSpPr>
          <p:cNvPr id="12" name="TextBox 11"/>
          <p:cNvSpPr txBox="1"/>
          <p:nvPr/>
        </p:nvSpPr>
        <p:spPr>
          <a:xfrm>
            <a:off x="731520" y="57150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Be specific and include your workup: </a:t>
            </a:r>
            <a:r>
              <a:rPr sz="1200" b="0" i="1">
                <a:solidFill>
                  <a:srgbClr val="6B6560"/>
                </a:solidFill>
                <a:latin typeface="Segoe UI"/>
              </a:rPr>
              <a:t>"Patient with [degree] [MCV category] anemia, hemoglobin [X]. Workup completed: iron studies [results], B12 [result], folate [result], reticulocyte count/RPI [result], TSH [result], CMP [result]. No clear etiology identified. No evidence of hemolysis. CBC differential without abnormal forms. Requesting evaluation for underlying cause and management recommendation."</a:t>
            </a:r>
          </a:p>
          <a:p>
            <a:pPr algn="l">
              <a:spcBef>
                <a:spcPts val="0"/>
              </a:spcBef>
              <a:spcAft>
                <a:spcPts val="600"/>
              </a:spcAft>
            </a:pPr>
            <a:r>
              <a:rPr sz="1200" b="0" i="0">
                <a:solidFill>
                  <a:srgbClr val="6B6560"/>
                </a:solidFill>
                <a:latin typeface="Segoe UI"/>
              </a:rPr>
              <a:t>A hematologist receiving this consult can move directly to the next tier of evaluation rather than repeating your workup.</a:t>
            </a:r>
          </a:p>
        </p:txBody>
      </p:sp>
      <p:sp>
        <p:nvSpPr>
          <p:cNvPr id="13" name="Rectangle 12"/>
          <p:cNvSpPr/>
          <p:nvPr/>
        </p:nvSpPr>
        <p:spPr>
          <a:xfrm>
            <a:off x="594360" y="57150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F7</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HEMOLYTIC ANEMIA</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When the marrow is working but the cells are being destroyed</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lab pattern confirms hemolysis?</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The hemolysis panel:</a:t>
            </a:r>
            <a:r>
              <a:rPr sz="1200" b="0" i="0">
                <a:solidFill>
                  <a:srgbClr val="6B6560"/>
                </a:solidFill>
                <a:latin typeface="Segoe UI"/>
              </a:rPr>
              <a:t> elevated LDH (released from lysed RBCs), elevated indirect bilirubin (from heme catabolism), low or undetectable haptoglobin (binds free hemoglobin and is consumed), and elevated reticulocyte count/RPI (marrow responding to peripheral destruction).</a:t>
            </a:r>
          </a:p>
          <a:p>
            <a:pPr algn="l">
              <a:spcBef>
                <a:spcPts val="0"/>
              </a:spcBef>
              <a:spcAft>
                <a:spcPts val="600"/>
              </a:spcAft>
            </a:pPr>
            <a:r>
              <a:rPr sz="1200" b="0" i="0">
                <a:solidFill>
                  <a:srgbClr val="6B6560"/>
                </a:solidFill>
                <a:latin typeface="Segoe UI"/>
              </a:rPr>
              <a:t>Not all markers need to be abnormal simultaneously — low haptoglobin alone has high specificity for hemolysis. Order the full panel and document which markers are positive.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 have confirmed hemolysis. What are the common causes I should consider before hematology?</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Categorize by mechanism:</a:t>
            </a:r>
          </a:p>
          <a:p>
            <a:pPr algn="l">
              <a:spcBef>
                <a:spcPts val="0"/>
              </a:spcBef>
              <a:spcAft>
                <a:spcPts val="600"/>
              </a:spcAft>
            </a:pPr>
            <a:r>
              <a:rPr sz="1100" b="1" i="0">
                <a:solidFill>
                  <a:srgbClr val="6B6560"/>
                </a:solidFill>
                <a:latin typeface="Segoe UI"/>
              </a:rPr>
              <a:t>[Immune-mediated]</a:t>
            </a:r>
            <a:r>
              <a:rPr sz="1200" b="0" i="0">
                <a:solidFill>
                  <a:srgbClr val="6B6560"/>
                </a:solidFill>
                <a:latin typeface="Segoe UI"/>
              </a:rPr>
              <a:t> — warm autoimmune hemolytic anemia (AIHA). Order direct antiglobulin test (DAT/Coombs). A positive DAT confirms immune-mediated destruction and is the most common cause of hemolysis in primary care patients. Associated with autoimmune conditions, CLL, and certain medications (methyldopa, penicillin, cephalosporins).</a:t>
            </a:r>
          </a:p>
          <a:p>
            <a:pPr algn="l">
              <a:spcBef>
                <a:spcPts val="0"/>
              </a:spcBef>
              <a:spcAft>
                <a:spcPts val="600"/>
              </a:spcAft>
            </a:pPr>
            <a:r>
              <a:rPr sz="1100" b="1" i="0">
                <a:solidFill>
                  <a:srgbClr val="7A3B1E"/>
                </a:solidFill>
                <a:latin typeface="Segoe UI"/>
              </a:rPr>
              <a:t>[Microangiopathic]</a:t>
            </a:r>
            <a:r>
              <a:rPr sz="1200" b="0" i="0">
                <a:solidFill>
                  <a:srgbClr val="6B6560"/>
                </a:solidFill>
                <a:latin typeface="Segoe UI"/>
              </a:rPr>
              <a:t> — schistocytes on smear: TTP, HUS, DIC, malignant hypertension. This is an emergency — do not manage outpatient.</a:t>
            </a:r>
          </a:p>
          <a:p>
            <a:pPr algn="l">
              <a:spcBef>
                <a:spcPts val="0"/>
              </a:spcBef>
              <a:spcAft>
                <a:spcPts val="600"/>
              </a:spcAft>
            </a:pPr>
            <a:r>
              <a:rPr sz="1100" b="1" i="0">
                <a:solidFill>
                  <a:srgbClr val="6B6560"/>
                </a:solidFill>
                <a:latin typeface="Segoe UI"/>
              </a:rPr>
              <a:t>[Hereditary]</a:t>
            </a:r>
            <a:r>
              <a:rPr sz="1200" b="0" i="0">
                <a:solidFill>
                  <a:srgbClr val="6B6560"/>
                </a:solidFill>
                <a:latin typeface="Segoe UI"/>
              </a:rPr>
              <a:t> — G6PD deficiency (often triggered by infection, oxidative drugs, fava beans — order G6PD level), hereditary spherocytosis (spherocytes on smear, family history), sickle cell disease (usually known).</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F7 — When the marrow is working but the cells are being destroyed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 see schistocytes on the peripheral smear. What do I do?</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Treat as urgent. Schistocytes indicate microangiopathic hemolytic anemia — RBCs being sheared by damaged small vessels. TTP (thrombotic thrombocytopenic purpura) is life-threatening and time-sensitive — check platelet count immediately.</a:t>
            </a:r>
          </a:p>
          <a:p>
            <a:pPr algn="l">
              <a:spcBef>
                <a:spcPts val="0"/>
              </a:spcBef>
              <a:spcAft>
                <a:spcPts val="600"/>
              </a:spcAft>
            </a:pPr>
            <a:r>
              <a:rPr sz="1100" b="1" i="0">
                <a:solidFill>
                  <a:srgbClr val="7A3B1E"/>
                </a:solidFill>
                <a:latin typeface="Segoe UI"/>
              </a:rPr>
              <a:t>[Thrombocytopenia plus microangiopathic hemolytic anemia is TTP until proven otherwise]</a:t>
            </a:r>
            <a:r>
              <a:rPr sz="1200" b="0" i="0">
                <a:solidFill>
                  <a:srgbClr val="6B6560"/>
                </a:solidFill>
                <a:latin typeface="Segoe UI"/>
              </a:rPr>
              <a:t> and requires same-day hematology contact, not an e-consult. Send the patient to the ER with a direct communication.</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7432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F8</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ABNORMAL CBC ACCOMPANYING ANEMIA</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When anemia is part of a bigger picture</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CBC shows anemia plus thrombocytopenia. What does that mean?</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Bicytopenia (two cell lines low) is a more concerning finding than isolated anemia. The differential includes: bone marrow failure (aplastic anemia), infiltrative bone marrow process (hematologic malignancy, metastatic solid tumor), hypersplenism, autoimmune destruction of multiple cell lines, B12/folate deficiency (can cause pancytopenia), or medications (chemotherapy, immunosuppressants, some antibiotics).</a:t>
            </a:r>
          </a:p>
          <a:p>
            <a:pPr algn="l">
              <a:spcBef>
                <a:spcPts val="0"/>
              </a:spcBef>
              <a:spcAft>
                <a:spcPts val="600"/>
              </a:spcAft>
            </a:pPr>
            <a:r>
              <a:rPr sz="1200" b="0" i="0">
                <a:solidFill>
                  <a:srgbClr val="6B6560"/>
                </a:solidFill>
                <a:latin typeface="Segoe UI"/>
              </a:rPr>
              <a:t>This requires hematology e-consult — not after a prolonged workup, but promptly.</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differential mentions "atypical lymphocytes." How concerned should I be?</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Context matters. Atypical lymphocytes are common in viral infections — EBV (infectious mononucleosis), CMV, and other viral syndromes produce reactive atypical lymphocytes that are benign and self-limited. In a young patient with fever, pharyngitis, and lymphadenopathy, check monospot and EBV titers.</a:t>
            </a:r>
          </a:p>
          <a:p>
            <a:pPr algn="l">
              <a:spcBef>
                <a:spcPts val="0"/>
              </a:spcBef>
              <a:spcAft>
                <a:spcPts val="600"/>
              </a:spcAft>
            </a:pPr>
            <a:r>
              <a:rPr sz="1200" b="0" i="0">
                <a:solidFill>
                  <a:srgbClr val="6B6560"/>
                </a:solidFill>
                <a:latin typeface="Segoe UI"/>
              </a:rPr>
              <a:t>In an older patient without a viral prodrome, persistent atypical lymphocytes or a lymphocytosis that doesn't resolve warrants hematology e-consult to evaluate for lymphoproliferative disease.</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623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report says "blasts seen." What do I do?</a:t>
            </a:r>
          </a:p>
        </p:txBody>
      </p:sp>
      <p:sp>
        <p:nvSpPr>
          <p:cNvPr id="16" name="TextBox 15"/>
          <p:cNvSpPr txBox="1"/>
          <p:nvPr/>
        </p:nvSpPr>
        <p:spPr>
          <a:xfrm>
            <a:off x="731520" y="6172200"/>
            <a:ext cx="10058400" cy="2743200"/>
          </a:xfrm>
          <a:prstGeom prst="rect">
            <a:avLst/>
          </a:prstGeom>
          <a:noFill/>
        </p:spPr>
        <p:txBody>
          <a:bodyPr wrap="square">
            <a:spAutoFit/>
          </a:bodyPr>
          <a:lstStyle/>
          <a:p>
            <a:pPr algn="l">
              <a:spcBef>
                <a:spcPts val="0"/>
              </a:spcBef>
              <a:spcAft>
                <a:spcPts val="600"/>
              </a:spcAft>
            </a:pPr>
            <a:r>
              <a:rPr sz="1100" b="1" i="0">
                <a:solidFill>
                  <a:srgbClr val="7A3B1E"/>
                </a:solidFill>
                <a:latin typeface="Segoe UI"/>
              </a:rPr>
              <a:t>[Contact hematology today]</a:t>
            </a:r>
            <a:r>
              <a:rPr sz="1200" b="0" i="0">
                <a:solidFill>
                  <a:srgbClr val="6B6560"/>
                </a:solidFill>
                <a:latin typeface="Segoe UI"/>
              </a:rPr>
              <a:t> — do not wait for an e-consult response. Blasts on a peripheral smear suggest acute leukemia until proven otherwise. This is a same-day phone call to hematology, not a portal message.</a:t>
            </a:r>
          </a:p>
          <a:p>
            <a:pPr algn="l">
              <a:spcBef>
                <a:spcPts val="0"/>
              </a:spcBef>
              <a:spcAft>
                <a:spcPts val="600"/>
              </a:spcAft>
            </a:pPr>
            <a:r>
              <a:rPr sz="1200" b="0" i="0">
                <a:solidFill>
                  <a:srgbClr val="6B6560"/>
                </a:solidFill>
                <a:latin typeface="Segoe UI"/>
              </a:rPr>
              <a:t>While arranging urgent evaluation, do not start any new medications that could affect the marrow picture. Be direct with the patient that you have found something that requires urgent specialist evaluation.</a:t>
            </a:r>
          </a:p>
        </p:txBody>
      </p:sp>
      <p:sp>
        <p:nvSpPr>
          <p:cNvPr id="17" name="Rectangle 16"/>
          <p:cNvSpPr/>
          <p:nvPr/>
        </p:nvSpPr>
        <p:spPr>
          <a:xfrm>
            <a:off x="594360" y="6172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F9</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REFRACTORY IRON DEFICIENCY</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Not responding to oral iron — what to do next</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do I know if the oral iron trial has been adequate?</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An adequate trial requires: correct diagnosis (confirmed iron deficiency, not anemia of chronic disease), correct dose (ferrous sulfate 325 mg on alternate days or equivalent), correct administration (empty stomach, with vitamin C, away from PPIs and calcium), and sufficient duration (minimum 4 weeks for reticulocyte response, 8–12 weeks for meaningful hemoglobin rise).</a:t>
            </a:r>
          </a:p>
          <a:p>
            <a:pPr algn="l">
              <a:spcBef>
                <a:spcPts val="0"/>
              </a:spcBef>
              <a:spcAft>
                <a:spcPts val="600"/>
              </a:spcAft>
            </a:pPr>
            <a:r>
              <a:rPr sz="1200" b="0" i="0">
                <a:solidFill>
                  <a:srgbClr val="6B6560"/>
                </a:solidFill>
                <a:latin typeface="Segoe UI"/>
              </a:rPr>
              <a:t>Before calling a trial a failure, verify all four. The most common reason for apparent treatment failure is PPI use that was not addressed.</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I've confirmed adequate trial and there's been no response. What are the possibilities?</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Ongoing blood loss exceeding replacement — the source has not been identified or is continuing. Malabsorption — celiac disease, gastric bypass, inflammatory bowel disease, H. pylori gastritis. Incorrect diagnosis — reconsider whether this is truly iron deficiency or functional iron deficiency in the context of inflammation.</a:t>
            </a:r>
          </a:p>
          <a:p>
            <a:pPr algn="l">
              <a:spcBef>
                <a:spcPts val="0"/>
              </a:spcBef>
              <a:spcAft>
                <a:spcPts val="600"/>
              </a:spcAft>
            </a:pPr>
            <a:r>
              <a:rPr sz="1200" b="0" i="0">
                <a:solidFill>
                  <a:srgbClr val="6B6560"/>
                </a:solidFill>
                <a:latin typeface="Segoe UI"/>
              </a:rPr>
              <a:t>H. pylori infection specifically is associated with refractory iron deficiency anemia and should be tested if not already done (urea breath test or stool antigen).</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623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When is IV iron the right answer for refractory cases?</a:t>
            </a:r>
          </a:p>
        </p:txBody>
      </p:sp>
      <p:sp>
        <p:nvSpPr>
          <p:cNvPr id="16" name="TextBox 15"/>
          <p:cNvSpPr txBox="1"/>
          <p:nvPr/>
        </p:nvSpPr>
        <p:spPr>
          <a:xfrm>
            <a:off x="731520" y="6172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IV iron is appropriate when oral iron has genuinely failed after an adequate trial, when malabsorption is confirmed or strongly suspected, when the patient cannot tolerate oral iron, or when rapid repletion is needed (preoperative optimization, severe symptomatic anemia).</a:t>
            </a:r>
          </a:p>
          <a:p>
            <a:pPr algn="l">
              <a:spcBef>
                <a:spcPts val="0"/>
              </a:spcBef>
              <a:spcAft>
                <a:spcPts val="600"/>
              </a:spcAft>
            </a:pPr>
            <a:r>
              <a:rPr sz="1200" b="0" i="0">
                <a:solidFill>
                  <a:srgbClr val="6B6560"/>
                </a:solidFill>
                <a:latin typeface="Segoe UI"/>
              </a:rPr>
              <a:t>IV iron does not require hematology referral — it can be ordered by primary care and administered in an infusion center. Refractory iron deficiency that fails IV iron, or iron deficiency without an identified source in a patient who has had appropriate GI evaluation, is the threshold for hematology e-consult.</a:t>
            </a:r>
          </a:p>
        </p:txBody>
      </p:sp>
      <p:sp>
        <p:nvSpPr>
          <p:cNvPr id="17" name="Rectangle 16"/>
          <p:cNvSpPr/>
          <p:nvPr/>
        </p:nvSpPr>
        <p:spPr>
          <a:xfrm>
            <a:off x="594360" y="6172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F10</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ANEMIA IN CKD</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Renal anemia — coordination with the CKD module</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is anemia of CKD different from other anemias?</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Anemia of CKD is normocytic and normochromic, caused primarily by reduced erythropoietin production by the damaged kidneys. It typically becomes clinically apparent at eGFR &lt; 45 (G3b) and is nearly universal at G4–G5.</a:t>
            </a:r>
          </a:p>
          <a:p>
            <a:pPr algn="l">
              <a:spcBef>
                <a:spcPts val="0"/>
              </a:spcBef>
              <a:spcAft>
                <a:spcPts val="600"/>
              </a:spcAft>
            </a:pPr>
            <a:r>
              <a:rPr sz="1200" b="0" i="0">
                <a:solidFill>
                  <a:srgbClr val="6B6560"/>
                </a:solidFill>
                <a:latin typeface="Segoe UI"/>
              </a:rPr>
              <a:t>It is a diagnosis of exclusion in the context of CKD — meaning iron deficiency, B12 deficiency, and other causes should be ruled out before attributing anemia solely to CKD. Many CKD patients have coexisting iron deficiency that is treatable and should be corrected before considering erythropoiesis-stimulating agents.</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CKD patient has anemia. What workup do I do?</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Complete the standard Meridian anemia workup first — CBC with differential, reticulocyte count, iron studies, B12, folate. Additionally order PTH, phosphorus, and 25-OH vitamin D if not recently done as part of CKD mineral metabolism assessment.</a:t>
            </a:r>
          </a:p>
          <a:p>
            <a:pPr algn="l">
              <a:spcBef>
                <a:spcPts val="0"/>
              </a:spcBef>
              <a:spcAft>
                <a:spcPts val="600"/>
              </a:spcAft>
            </a:pPr>
            <a:r>
              <a:rPr sz="1200" b="0" i="0">
                <a:solidFill>
                  <a:srgbClr val="6B6560"/>
                </a:solidFill>
                <a:latin typeface="Segoe UI"/>
              </a:rPr>
              <a:t>Then cross-reference with the Meridian CKD module for integrated management. The CKD e-consult to nephrology should include the anemia workup so the nephrologist can advise on ESA candidacy with complete information.</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623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Should I start an ESA (erythropoiesis-stimulating agent)?</a:t>
            </a:r>
          </a:p>
        </p:txBody>
      </p:sp>
      <p:sp>
        <p:nvSpPr>
          <p:cNvPr id="16" name="TextBox 15"/>
          <p:cNvSpPr txBox="1"/>
          <p:nvPr/>
        </p:nvSpPr>
        <p:spPr>
          <a:xfrm>
            <a:off x="731520" y="6172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ESA initiation is a nephrology decision in the primary care context. Your role is to identify the anemia, complete the workup, correct any iron deficiency (IV iron preferred in CKD — oral iron is poorly absorbed in CKD patients and worsens constipation), and document.</a:t>
            </a:r>
          </a:p>
          <a:p>
            <a:pPr algn="l">
              <a:spcBef>
                <a:spcPts val="0"/>
              </a:spcBef>
              <a:spcAft>
                <a:spcPts val="600"/>
              </a:spcAft>
            </a:pPr>
            <a:r>
              <a:rPr sz="1200" b="0" i="0">
                <a:solidFill>
                  <a:srgbClr val="6B6560"/>
                </a:solidFill>
                <a:latin typeface="Segoe UI"/>
              </a:rPr>
              <a:t>Do not initiate ESA therapy without nephrology input — ESAs carry risks including accelerated cardiovascular events and increased tumor progression risk in malignancy, and dosing requires monitoring that is typically managed by nephrology.</a:t>
            </a:r>
          </a:p>
        </p:txBody>
      </p:sp>
      <p:sp>
        <p:nvSpPr>
          <p:cNvPr id="17" name="Rectangle 16"/>
          <p:cNvSpPr/>
          <p:nvPr/>
        </p:nvSpPr>
        <p:spPr>
          <a:xfrm>
            <a:off x="594360" y="6172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2286000"/>
            <a:ext cx="10058400" cy="914400"/>
          </a:xfrm>
          <a:prstGeom prst="rect">
            <a:avLst/>
          </a:prstGeom>
          <a:noFill/>
        </p:spPr>
        <p:txBody>
          <a:bodyPr wrap="square">
            <a:spAutoFit/>
          </a:bodyPr>
          <a:lstStyle/>
          <a:p>
            <a:pPr algn="l">
              <a:spcBef>
                <a:spcPts val="0"/>
              </a:spcBef>
              <a:spcAft>
                <a:spcPts val="400"/>
              </a:spcAft>
            </a:pPr>
            <a:r>
              <a:rPr sz="1200" b="0" i="0">
                <a:solidFill>
                  <a:srgbClr val="CCDDCC"/>
                </a:solidFill>
                <a:latin typeface="Segoe UI"/>
              </a:rPr>
              <a:t>MERIDIAN</a:t>
            </a:r>
          </a:p>
        </p:txBody>
      </p:sp>
      <p:sp>
        <p:nvSpPr>
          <p:cNvPr id="3" name="TextBox 2"/>
          <p:cNvSpPr txBox="1"/>
          <p:nvPr/>
        </p:nvSpPr>
        <p:spPr>
          <a:xfrm>
            <a:off x="914400" y="2743200"/>
            <a:ext cx="10058400" cy="914400"/>
          </a:xfrm>
          <a:prstGeom prst="rect">
            <a:avLst/>
          </a:prstGeom>
          <a:noFill/>
        </p:spPr>
        <p:txBody>
          <a:bodyPr wrap="square">
            <a:spAutoFit/>
          </a:bodyPr>
          <a:lstStyle/>
          <a:p>
            <a:pPr algn="l">
              <a:spcBef>
                <a:spcPts val="0"/>
              </a:spcBef>
              <a:spcAft>
                <a:spcPts val="400"/>
              </a:spcAft>
            </a:pPr>
            <a:r>
              <a:rPr sz="2800" b="1" i="0">
                <a:solidFill>
                  <a:srgbClr val="FFFFFF"/>
                </a:solidFill>
                <a:latin typeface="Segoe UI"/>
              </a:rPr>
              <a:t>Anemia</a:t>
            </a:r>
          </a:p>
        </p:txBody>
      </p:sp>
      <p:sp>
        <p:nvSpPr>
          <p:cNvPr id="4" name="TextBox 3"/>
          <p:cNvSpPr txBox="1"/>
          <p:nvPr/>
        </p:nvSpPr>
        <p:spPr>
          <a:xfrm>
            <a:off x="914400" y="4114800"/>
            <a:ext cx="8229600" cy="1371600"/>
          </a:xfrm>
          <a:prstGeom prst="rect">
            <a:avLst/>
          </a:prstGeom>
          <a:noFill/>
        </p:spPr>
        <p:txBody>
          <a:bodyPr wrap="square">
            <a:spAutoFit/>
          </a:bodyPr>
          <a:lstStyle/>
          <a:p>
            <a:pPr algn="l">
              <a:spcBef>
                <a:spcPts val="0"/>
              </a:spcBef>
              <a:spcAft>
                <a:spcPts val="400"/>
              </a:spcAft>
            </a:pPr>
            <a:r>
              <a:rPr sz="1300" b="0" i="1">
                <a:solidFill>
                  <a:srgbClr val="CCDDCC"/>
                </a:solidFill>
                <a:latin typeface="Segoe UI"/>
              </a:rPr>
              <a:t>For internal use only. This is a viable first pathway, not the only pathway. Experienced providers retain clinical discretion. Urgent findings — schistocytes, blasts, severe symptomatic anemia — require same-day escalation outside this e-consult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